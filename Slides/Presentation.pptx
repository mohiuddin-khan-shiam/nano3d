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Lato" charset="1" panose="020F0502020204030203"/>
      <p:regular r:id="rId30"/>
    </p:embeddedFont>
    <p:embeddedFont>
      <p:font typeface="Poppins Bold" charset="1" panose="00000800000000000000"/>
      <p:regular r:id="rId31"/>
    </p:embeddedFont>
    <p:embeddedFont>
      <p:font typeface="Lato Bold" charset="1" panose="020F0502020204030203"/>
      <p:regular r:id="rId32"/>
    </p:embeddedFont>
    <p:embeddedFont>
      <p:font typeface="Codec Pro" charset="1" panose="00000500000000000000"/>
      <p:regular r:id="rId33"/>
    </p:embeddedFont>
    <p:embeddedFont>
      <p:font typeface="Codec Pro Bold" charset="1" panose="00000600000000000000"/>
      <p:regular r:id="rId34"/>
    </p:embeddedFont>
    <p:embeddedFont>
      <p:font typeface="Canva Sans Bold" charset="1" panose="020B0803030501040103"/>
      <p:regular r:id="rId35"/>
    </p:embeddedFont>
    <p:embeddedFont>
      <p:font typeface="Canva Sans" charset="1" panose="020B0503030501040103"/>
      <p:regular r:id="rId36"/>
    </p:embeddedFont>
    <p:embeddedFont>
      <p:font typeface="Aptos Bold" charset="1" panose="020B0004020202020204"/>
      <p:regular r:id="rId37"/>
    </p:embeddedFont>
    <p:embeddedFont>
      <p:font typeface="Calibri (MS) Bold" charset="1" panose="020F0702030404030204"/>
      <p:regular r:id="rId38"/>
    </p:embeddedFont>
    <p:embeddedFont>
      <p:font typeface="Aptos" charset="1" panose="020B0004020202020204"/>
      <p:regular r:id="rId39"/>
    </p:embeddedFont>
    <p:embeddedFont>
      <p:font typeface="Aptos Italics" charset="1" panose="020B0004020202090204"/>
      <p:regular r:id="rId40"/>
    </p:embeddedFont>
    <p:embeddedFont>
      <p:font typeface="Fraunces Bold" charset="1" panose="000000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904848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708935" y="0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84417" y="3133926"/>
            <a:ext cx="831916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BRAC </a:t>
            </a:r>
            <a:r>
              <a:rPr lang="en-US" sz="2699" strike="noStrike" u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University | June 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400000">
            <a:off x="-301030" y="301030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true" rot="5400000">
            <a:off x="10820522" y="2819522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902718" y="4163379"/>
            <a:ext cx="14482564" cy="2045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4"/>
              </a:lnSpc>
            </a:pPr>
            <a:r>
              <a:rPr lang="en-US" b="true" sz="5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DEEP LEARNING FRAM</a:t>
            </a:r>
            <a:r>
              <a:rPr lang="en-US" b="true" sz="5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EWORKS FOR</a:t>
            </a:r>
          </a:p>
          <a:p>
            <a:pPr algn="ctr" marL="0" indent="0" lvl="0">
              <a:lnSpc>
                <a:spcPts val="5114"/>
              </a:lnSpc>
            </a:pPr>
            <a:r>
              <a:rPr lang="en-US" b="true" sz="5499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SUSPICIOUS ACTIVITY</a:t>
            </a:r>
            <a:r>
              <a:rPr lang="en-US" b="true" sz="5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DETECTION IN VIDEO SURVEILLANCE SYSTEMS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60382" y="-781343"/>
            <a:ext cx="5941360" cy="11839950"/>
            <a:chOff x="0" y="0"/>
            <a:chExt cx="1564803" cy="31183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4803" cy="3118341"/>
            </a:xfrm>
            <a:custGeom>
              <a:avLst/>
              <a:gdLst/>
              <a:ahLst/>
              <a:cxnLst/>
              <a:rect r="r" b="b" t="t" l="l"/>
              <a:pathLst>
                <a:path h="3118341" w="1564803">
                  <a:moveTo>
                    <a:pt x="66456" y="0"/>
                  </a:moveTo>
                  <a:lnTo>
                    <a:pt x="1498347" y="0"/>
                  </a:lnTo>
                  <a:cubicBezTo>
                    <a:pt x="1535049" y="0"/>
                    <a:pt x="1564803" y="29753"/>
                    <a:pt x="1564803" y="66456"/>
                  </a:cubicBezTo>
                  <a:lnTo>
                    <a:pt x="1564803" y="3051885"/>
                  </a:lnTo>
                  <a:cubicBezTo>
                    <a:pt x="1564803" y="3088587"/>
                    <a:pt x="1535049" y="3118341"/>
                    <a:pt x="1498347" y="3118341"/>
                  </a:cubicBezTo>
                  <a:lnTo>
                    <a:pt x="66456" y="3118341"/>
                  </a:lnTo>
                  <a:cubicBezTo>
                    <a:pt x="29753" y="3118341"/>
                    <a:pt x="0" y="3088587"/>
                    <a:pt x="0" y="3051885"/>
                  </a:cubicBezTo>
                  <a:lnTo>
                    <a:pt x="0" y="66456"/>
                  </a:lnTo>
                  <a:cubicBezTo>
                    <a:pt x="0" y="29753"/>
                    <a:pt x="29753" y="0"/>
                    <a:pt x="66456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64803" cy="31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0013" y="2099555"/>
            <a:ext cx="6769714" cy="6487707"/>
            <a:chOff x="0" y="0"/>
            <a:chExt cx="1124751" cy="10778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4751" cy="1077897"/>
            </a:xfrm>
            <a:custGeom>
              <a:avLst/>
              <a:gdLst/>
              <a:ahLst/>
              <a:cxnLst/>
              <a:rect r="r" b="b" t="t" l="l"/>
              <a:pathLst>
                <a:path h="1077897" w="1124751">
                  <a:moveTo>
                    <a:pt x="34308" y="0"/>
                  </a:moveTo>
                  <a:lnTo>
                    <a:pt x="1090443" y="0"/>
                  </a:lnTo>
                  <a:cubicBezTo>
                    <a:pt x="1109391" y="0"/>
                    <a:pt x="1124751" y="15360"/>
                    <a:pt x="1124751" y="34308"/>
                  </a:cubicBezTo>
                  <a:lnTo>
                    <a:pt x="1124751" y="1043589"/>
                  </a:lnTo>
                  <a:cubicBezTo>
                    <a:pt x="1124751" y="1062537"/>
                    <a:pt x="1109391" y="1077897"/>
                    <a:pt x="1090443" y="1077897"/>
                  </a:cubicBezTo>
                  <a:lnTo>
                    <a:pt x="34308" y="1077897"/>
                  </a:lnTo>
                  <a:cubicBezTo>
                    <a:pt x="15360" y="1077897"/>
                    <a:pt x="0" y="1062537"/>
                    <a:pt x="0" y="1043589"/>
                  </a:cubicBezTo>
                  <a:lnTo>
                    <a:pt x="0" y="34308"/>
                  </a:lnTo>
                  <a:cubicBezTo>
                    <a:pt x="0" y="15360"/>
                    <a:pt x="15360" y="0"/>
                    <a:pt x="34308" y="0"/>
                  </a:cubicBezTo>
                  <a:close/>
                </a:path>
              </a:pathLst>
            </a:custGeom>
            <a:blipFill>
              <a:blip r:embed="rId2"/>
              <a:stretch>
                <a:fillRect l="-17488" t="0" r="-17488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02674" y="1917612"/>
            <a:ext cx="7802425" cy="907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11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Research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2674" y="3166488"/>
            <a:ext cx="7802425" cy="505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eep Learning Frameworks for Suspicious Activity Detection in Video Surveillance Systems</a:t>
            </a:r>
          </a:p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Focus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Video Anomaly Detection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Intelligent Surveillance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Public Safety Monitoring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Automated Incident Response</a:t>
            </a:r>
          </a:p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Objective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Detect suspicious activities automatically from surveillance videos</a:t>
            </a:r>
          </a:p>
          <a:p>
            <a:pPr algn="l" marL="0" indent="0" lvl="1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2874" y="3554451"/>
            <a:ext cx="16975126" cy="65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63"/>
              </a:lnSpc>
            </a:pPr>
            <a:r>
              <a:rPr lang="en-US" b="true" sz="354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</a:t>
            </a:r>
            <a:r>
              <a:rPr lang="en-US" b="true" sz="354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This Research?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2874" y="4708946"/>
            <a:ext cx="7856677" cy="318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42"/>
              </a:lnSpc>
            </a:pPr>
            <a:r>
              <a:rPr lang="en-US" b="true" sz="295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Lim</a:t>
            </a:r>
            <a:r>
              <a:rPr lang="en-US" b="true" sz="295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itation </a:t>
            </a:r>
            <a:r>
              <a:rPr lang="en-US" b="true" sz="295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of Existing Studies</a:t>
            </a:r>
          </a:p>
          <a:p>
            <a:pPr algn="just" marL="638854" indent="-319427" lvl="1">
              <a:lnSpc>
                <a:spcPts val="4142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Models evaluated on isolated datasets</a:t>
            </a:r>
          </a:p>
          <a:p>
            <a:pPr algn="just" marL="638854" indent="-319427" lvl="1">
              <a:lnSpc>
                <a:spcPts val="4142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Difficult to compare architectures fairly</a:t>
            </a:r>
          </a:p>
          <a:p>
            <a:pPr algn="l" marL="638854" indent="-319427" lvl="1">
              <a:lnSpc>
                <a:spcPts val="4142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Limited assessment of real-world generalization</a:t>
            </a:r>
          </a:p>
          <a:p>
            <a:pPr algn="just" marL="0" indent="0" lvl="0">
              <a:lnSpc>
                <a:spcPts val="414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1472171" y="-475029"/>
            <a:ext cx="11152862" cy="3275562"/>
          </a:xfrm>
          <a:custGeom>
            <a:avLst/>
            <a:gdLst/>
            <a:ahLst/>
            <a:cxnLst/>
            <a:rect r="r" b="b" t="t" l="l"/>
            <a:pathLst>
              <a:path h="3275562" w="11152862">
                <a:moveTo>
                  <a:pt x="0" y="3275562"/>
                </a:moveTo>
                <a:lnTo>
                  <a:pt x="11152862" y="3275562"/>
                </a:lnTo>
                <a:lnTo>
                  <a:pt x="11152862" y="0"/>
                </a:lnTo>
                <a:lnTo>
                  <a:pt x="0" y="0"/>
                </a:lnTo>
                <a:lnTo>
                  <a:pt x="0" y="3275562"/>
                </a:lnTo>
                <a:close/>
              </a:path>
            </a:pathLst>
          </a:custGeom>
          <a:blipFill>
            <a:blip r:embed="rId2"/>
            <a:stretch>
              <a:fillRect l="0" t="-214099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8820441" y="-475029"/>
            <a:ext cx="11152862" cy="3275562"/>
          </a:xfrm>
          <a:custGeom>
            <a:avLst/>
            <a:gdLst/>
            <a:ahLst/>
            <a:cxnLst/>
            <a:rect r="r" b="b" t="t" l="l"/>
            <a:pathLst>
              <a:path h="3275562" w="11152862">
                <a:moveTo>
                  <a:pt x="11152862" y="3275562"/>
                </a:moveTo>
                <a:lnTo>
                  <a:pt x="0" y="3275562"/>
                </a:lnTo>
                <a:lnTo>
                  <a:pt x="0" y="0"/>
                </a:lnTo>
                <a:lnTo>
                  <a:pt x="11152862" y="0"/>
                </a:lnTo>
                <a:lnTo>
                  <a:pt x="11152862" y="3275562"/>
                </a:lnTo>
                <a:close/>
              </a:path>
            </a:pathLst>
          </a:custGeom>
          <a:blipFill>
            <a:blip r:embed="rId3"/>
            <a:stretch>
              <a:fillRect l="0" t="-214099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784599" y="1980540"/>
            <a:ext cx="12769903" cy="907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11"/>
              </a:lnSpc>
            </a:pPr>
            <a:r>
              <a:rPr lang="en-US" b="true" sz="63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Research Mot</a:t>
            </a:r>
            <a:r>
              <a:rPr lang="en-US" b="true" sz="63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00437" y="4708946"/>
            <a:ext cx="7856677" cy="318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42"/>
              </a:lnSpc>
            </a:pPr>
            <a:r>
              <a:rPr lang="en-US" b="true" sz="295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</a:t>
            </a:r>
            <a:r>
              <a:rPr lang="en-US" b="true" sz="295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S</a:t>
            </a:r>
            <a:r>
              <a:rPr lang="en-US" b="true" sz="295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olution</a:t>
            </a:r>
          </a:p>
          <a:p>
            <a:pPr algn="l" marL="638854" indent="-319427" lvl="1">
              <a:lnSpc>
                <a:spcPts val="4142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Unified and comprehensive evaluation framework</a:t>
            </a:r>
          </a:p>
          <a:p>
            <a:pPr algn="l" marL="638854" indent="-319427" lvl="1">
              <a:lnSpc>
                <a:spcPts val="4142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Multi-dataset benchmark for comprehensive comparison</a:t>
            </a:r>
          </a:p>
          <a:p>
            <a:pPr algn="just" marL="0" indent="0" lvl="0">
              <a:lnSpc>
                <a:spcPts val="414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301030" y="301030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108672" y="1028700"/>
            <a:ext cx="14070656" cy="8229600"/>
          </a:xfrm>
          <a:custGeom>
            <a:avLst/>
            <a:gdLst/>
            <a:ahLst/>
            <a:cxnLst/>
            <a:rect r="r" b="b" t="t" l="l"/>
            <a:pathLst>
              <a:path h="8229600" w="14070656">
                <a:moveTo>
                  <a:pt x="0" y="0"/>
                </a:moveTo>
                <a:lnTo>
                  <a:pt x="14070656" y="0"/>
                </a:lnTo>
                <a:lnTo>
                  <a:pt x="140706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0" r="0" b="-36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5400000">
            <a:off x="10820522" y="2819522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0832" y="-781343"/>
            <a:ext cx="5941360" cy="11839950"/>
            <a:chOff x="0" y="0"/>
            <a:chExt cx="1564803" cy="31183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4803" cy="3118341"/>
            </a:xfrm>
            <a:custGeom>
              <a:avLst/>
              <a:gdLst/>
              <a:ahLst/>
              <a:cxnLst/>
              <a:rect r="r" b="b" t="t" l="l"/>
              <a:pathLst>
                <a:path h="3118341" w="1564803">
                  <a:moveTo>
                    <a:pt x="66456" y="0"/>
                  </a:moveTo>
                  <a:lnTo>
                    <a:pt x="1498347" y="0"/>
                  </a:lnTo>
                  <a:cubicBezTo>
                    <a:pt x="1535049" y="0"/>
                    <a:pt x="1564803" y="29753"/>
                    <a:pt x="1564803" y="66456"/>
                  </a:cubicBezTo>
                  <a:lnTo>
                    <a:pt x="1564803" y="3051885"/>
                  </a:lnTo>
                  <a:cubicBezTo>
                    <a:pt x="1564803" y="3088587"/>
                    <a:pt x="1535049" y="3118341"/>
                    <a:pt x="1498347" y="3118341"/>
                  </a:cubicBezTo>
                  <a:lnTo>
                    <a:pt x="66456" y="3118341"/>
                  </a:lnTo>
                  <a:cubicBezTo>
                    <a:pt x="29753" y="3118341"/>
                    <a:pt x="0" y="3088587"/>
                    <a:pt x="0" y="3051885"/>
                  </a:cubicBezTo>
                  <a:lnTo>
                    <a:pt x="0" y="66456"/>
                  </a:lnTo>
                  <a:cubicBezTo>
                    <a:pt x="0" y="29753"/>
                    <a:pt x="29753" y="0"/>
                    <a:pt x="66456" y="0"/>
                  </a:cubicBezTo>
                  <a:close/>
                </a:path>
              </a:pathLst>
            </a:custGeom>
            <a:solidFill>
              <a:srgbClr val="D5E4DD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64803" cy="31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6824" y="1879241"/>
            <a:ext cx="7912766" cy="53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4"/>
              </a:lnSpc>
              <a:spcBef>
                <a:spcPct val="0"/>
              </a:spcBef>
            </a:pPr>
            <a:r>
              <a:rPr lang="en-US" b="true" sz="38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VAD_Binary Dataset Co</a:t>
            </a:r>
            <a:r>
              <a:rPr lang="en-US" b="true" sz="3800" strike="noStrike" u="non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nstruction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6824" y="2587949"/>
            <a:ext cx="8208685" cy="3836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Unified multiple benchmark datasets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Binary classification:</a:t>
            </a:r>
          </a:p>
          <a:p>
            <a:pPr algn="l" marL="1165857" indent="-388619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0: Normal</a:t>
            </a:r>
          </a:p>
          <a:p>
            <a:pPr algn="l" marL="1165857" indent="-388619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Class 1: Anomaly</a:t>
            </a:r>
          </a:p>
          <a:p>
            <a:pPr algn="l" marL="582928" indent="-291464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</a:t>
            </a:r>
            <a:r>
              <a:rPr lang="en-US" sz="26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courages learning of generalized abnormal behaviors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46824" y="6367469"/>
            <a:ext cx="7002780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Benefits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</a:t>
            </a: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dardized input format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Reduced computational overhead</a:t>
            </a:r>
          </a:p>
          <a:p>
            <a:pPr algn="just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Consistent benchmarking environment</a:t>
            </a:r>
          </a:p>
          <a:p>
            <a:pPr algn="just">
              <a:lnSpc>
                <a:spcPts val="378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-3771900" y="-1248129"/>
            <a:ext cx="4800600" cy="2857500"/>
            <a:chOff x="0" y="0"/>
            <a:chExt cx="6400800" cy="381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08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400800">
                  <a:moveTo>
                    <a:pt x="0" y="1905000"/>
                  </a:moveTo>
                  <a:cubicBezTo>
                    <a:pt x="0" y="852932"/>
                    <a:pt x="1432814" y="0"/>
                    <a:pt x="3200400" y="0"/>
                  </a:cubicBezTo>
                  <a:cubicBezTo>
                    <a:pt x="4967986" y="0"/>
                    <a:pt x="6400800" y="852932"/>
                    <a:pt x="6400800" y="1905000"/>
                  </a:cubicBezTo>
                  <a:cubicBezTo>
                    <a:pt x="6400800" y="2957068"/>
                    <a:pt x="4967986" y="3810000"/>
                    <a:pt x="3200400" y="3810000"/>
                  </a:cubicBezTo>
                  <a:cubicBezTo>
                    <a:pt x="1432814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true" rot="5400000">
            <a:off x="7552660" y="-448340"/>
            <a:ext cx="11152862" cy="10317819"/>
          </a:xfrm>
          <a:custGeom>
            <a:avLst/>
            <a:gdLst/>
            <a:ahLst/>
            <a:cxnLst/>
            <a:rect r="r" b="b" t="t" l="l"/>
            <a:pathLst>
              <a:path h="10317819" w="11152862">
                <a:moveTo>
                  <a:pt x="0" y="10317819"/>
                </a:moveTo>
                <a:lnTo>
                  <a:pt x="11152861" y="10317819"/>
                </a:lnTo>
                <a:lnTo>
                  <a:pt x="11152861" y="0"/>
                </a:lnTo>
                <a:lnTo>
                  <a:pt x="0" y="0"/>
                </a:lnTo>
                <a:lnTo>
                  <a:pt x="0" y="10317819"/>
                </a:lnTo>
                <a:close/>
              </a:path>
            </a:pathLst>
          </a:custGeom>
          <a:blipFill>
            <a:blip r:embed="rId2"/>
            <a:stretch>
              <a:fillRect l="-142" t="0" r="-142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713383" y="1171863"/>
            <a:ext cx="5921264" cy="7933538"/>
            <a:chOff x="0" y="0"/>
            <a:chExt cx="722119" cy="967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2119" cy="967522"/>
            </a:xfrm>
            <a:custGeom>
              <a:avLst/>
              <a:gdLst/>
              <a:ahLst/>
              <a:cxnLst/>
              <a:rect r="r" b="b" t="t" l="l"/>
              <a:pathLst>
                <a:path h="967522" w="722119">
                  <a:moveTo>
                    <a:pt x="83679" y="0"/>
                  </a:moveTo>
                  <a:lnTo>
                    <a:pt x="638440" y="0"/>
                  </a:lnTo>
                  <a:cubicBezTo>
                    <a:pt x="684654" y="0"/>
                    <a:pt x="722119" y="37464"/>
                    <a:pt x="722119" y="83679"/>
                  </a:cubicBezTo>
                  <a:lnTo>
                    <a:pt x="722119" y="883844"/>
                  </a:lnTo>
                  <a:cubicBezTo>
                    <a:pt x="722119" y="930058"/>
                    <a:pt x="684654" y="967522"/>
                    <a:pt x="638440" y="967522"/>
                  </a:cubicBezTo>
                  <a:lnTo>
                    <a:pt x="83679" y="967522"/>
                  </a:lnTo>
                  <a:cubicBezTo>
                    <a:pt x="37464" y="967522"/>
                    <a:pt x="0" y="930058"/>
                    <a:pt x="0" y="883844"/>
                  </a:cubicBezTo>
                  <a:lnTo>
                    <a:pt x="0" y="83679"/>
                  </a:lnTo>
                  <a:cubicBezTo>
                    <a:pt x="0" y="37464"/>
                    <a:pt x="37464" y="0"/>
                    <a:pt x="83679" y="0"/>
                  </a:cubicBezTo>
                  <a:close/>
                </a:path>
              </a:pathLst>
            </a:custGeom>
            <a:blipFill>
              <a:blip r:embed="rId3"/>
              <a:stretch>
                <a:fillRect l="-16991" t="0" r="-16991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3" id="13"/>
          <p:cNvSpPr/>
          <p:nvPr/>
        </p:nvSpPr>
        <p:spPr>
          <a:xfrm flipH="true" flipV="true" rot="-10800000">
            <a:off x="-7358108" y="7783045"/>
            <a:ext cx="11152862" cy="3275562"/>
          </a:xfrm>
          <a:custGeom>
            <a:avLst/>
            <a:gdLst/>
            <a:ahLst/>
            <a:cxnLst/>
            <a:rect r="r" b="b" t="t" l="l"/>
            <a:pathLst>
              <a:path h="3275562" w="11152862">
                <a:moveTo>
                  <a:pt x="11152862" y="3275561"/>
                </a:moveTo>
                <a:lnTo>
                  <a:pt x="0" y="3275561"/>
                </a:lnTo>
                <a:lnTo>
                  <a:pt x="0" y="0"/>
                </a:lnTo>
                <a:lnTo>
                  <a:pt x="11152862" y="0"/>
                </a:lnTo>
                <a:lnTo>
                  <a:pt x="11152862" y="3275561"/>
                </a:lnTo>
                <a:close/>
              </a:path>
            </a:pathLst>
          </a:custGeom>
          <a:blipFill>
            <a:blip r:embed="rId4"/>
            <a:stretch>
              <a:fillRect l="0" t="-214099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7510" y="2260049"/>
            <a:ext cx="7766490" cy="3280050"/>
            <a:chOff x="0" y="0"/>
            <a:chExt cx="2045495" cy="863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495" cy="863882"/>
            </a:xfrm>
            <a:custGeom>
              <a:avLst/>
              <a:gdLst/>
              <a:ahLst/>
              <a:cxnLst/>
              <a:rect r="r" b="b" t="t" l="l"/>
              <a:pathLst>
                <a:path h="863882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5005"/>
                  </a:lnTo>
                  <a:cubicBezTo>
                    <a:pt x="2045495" y="835316"/>
                    <a:pt x="2041399" y="845204"/>
                    <a:pt x="2034109" y="852495"/>
                  </a:cubicBezTo>
                  <a:cubicBezTo>
                    <a:pt x="2026818" y="859786"/>
                    <a:pt x="2016929" y="863882"/>
                    <a:pt x="2006619" y="863882"/>
                  </a:cubicBezTo>
                  <a:lnTo>
                    <a:pt x="38877" y="863882"/>
                  </a:lnTo>
                  <a:cubicBezTo>
                    <a:pt x="28566" y="863882"/>
                    <a:pt x="18677" y="859786"/>
                    <a:pt x="11387" y="852495"/>
                  </a:cubicBezTo>
                  <a:cubicBezTo>
                    <a:pt x="4096" y="845204"/>
                    <a:pt x="0" y="835316"/>
                    <a:pt x="0" y="825005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45495" cy="911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7510" y="5759175"/>
            <a:ext cx="7766490" cy="3280050"/>
            <a:chOff x="0" y="0"/>
            <a:chExt cx="2045495" cy="863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5495" cy="863882"/>
            </a:xfrm>
            <a:custGeom>
              <a:avLst/>
              <a:gdLst/>
              <a:ahLst/>
              <a:cxnLst/>
              <a:rect r="r" b="b" t="t" l="l"/>
              <a:pathLst>
                <a:path h="863882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5005"/>
                  </a:lnTo>
                  <a:cubicBezTo>
                    <a:pt x="2045495" y="835316"/>
                    <a:pt x="2041399" y="845204"/>
                    <a:pt x="2034109" y="852495"/>
                  </a:cubicBezTo>
                  <a:cubicBezTo>
                    <a:pt x="2026818" y="859786"/>
                    <a:pt x="2016929" y="863882"/>
                    <a:pt x="2006619" y="863882"/>
                  </a:cubicBezTo>
                  <a:lnTo>
                    <a:pt x="38877" y="863882"/>
                  </a:lnTo>
                  <a:cubicBezTo>
                    <a:pt x="28566" y="863882"/>
                    <a:pt x="18677" y="859786"/>
                    <a:pt x="11387" y="852495"/>
                  </a:cubicBezTo>
                  <a:cubicBezTo>
                    <a:pt x="4096" y="845204"/>
                    <a:pt x="0" y="835316"/>
                    <a:pt x="0" y="825005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45495" cy="911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27784" y="2260049"/>
            <a:ext cx="7766490" cy="3280050"/>
            <a:chOff x="0" y="0"/>
            <a:chExt cx="2045495" cy="863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5495" cy="863882"/>
            </a:xfrm>
            <a:custGeom>
              <a:avLst/>
              <a:gdLst/>
              <a:ahLst/>
              <a:cxnLst/>
              <a:rect r="r" b="b" t="t" l="l"/>
              <a:pathLst>
                <a:path h="863882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5005"/>
                  </a:lnTo>
                  <a:cubicBezTo>
                    <a:pt x="2045495" y="835316"/>
                    <a:pt x="2041399" y="845204"/>
                    <a:pt x="2034109" y="852495"/>
                  </a:cubicBezTo>
                  <a:cubicBezTo>
                    <a:pt x="2026818" y="859786"/>
                    <a:pt x="2016929" y="863882"/>
                    <a:pt x="2006619" y="863882"/>
                  </a:cubicBezTo>
                  <a:lnTo>
                    <a:pt x="38877" y="863882"/>
                  </a:lnTo>
                  <a:cubicBezTo>
                    <a:pt x="28566" y="863882"/>
                    <a:pt x="18677" y="859786"/>
                    <a:pt x="11387" y="852495"/>
                  </a:cubicBezTo>
                  <a:cubicBezTo>
                    <a:pt x="4096" y="845204"/>
                    <a:pt x="0" y="835316"/>
                    <a:pt x="0" y="825005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45495" cy="911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40439" y="3305095"/>
            <a:ext cx="6747171" cy="169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raining: 70%</a:t>
            </a:r>
          </a:p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Validation: 15%</a:t>
            </a:r>
          </a:p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Testing: 15%</a:t>
            </a:r>
          </a:p>
          <a:p>
            <a:pPr algn="l" marL="0" indent="0" lvl="1">
              <a:lnSpc>
                <a:spcPts val="334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651491" y="3305095"/>
            <a:ext cx="6747171" cy="169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Fix</a:t>
            </a: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ed random seed: 42</a:t>
            </a:r>
          </a:p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Preserves anomaly-to-normal ratio across all subsets</a:t>
            </a:r>
          </a:p>
          <a:p>
            <a:pPr algn="l" marL="0" indent="0" lvl="1">
              <a:lnSpc>
                <a:spcPts val="334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940439" y="6855603"/>
            <a:ext cx="6747171" cy="211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Real-w</a:t>
            </a: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orld surveillance is heavily normal-dominated</a:t>
            </a:r>
          </a:p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Computed class weights from training labels</a:t>
            </a:r>
          </a:p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Penalized majority-class bias during learning</a:t>
            </a:r>
          </a:p>
          <a:p>
            <a:pPr algn="l" marL="0" indent="0" lvl="1">
              <a:lnSpc>
                <a:spcPts val="334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940439" y="2488454"/>
            <a:ext cx="6606572" cy="71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71"/>
              </a:lnSpc>
              <a:spcBef>
                <a:spcPct val="0"/>
              </a:spcBef>
            </a:pPr>
            <a:r>
              <a:rPr lang="en-US" b="true" sz="348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Datas</a:t>
            </a:r>
            <a:r>
              <a:rPr lang="en-US" b="true" sz="348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et Partitioning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51491" y="2488454"/>
            <a:ext cx="6606572" cy="71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71"/>
              </a:lnSpc>
              <a:spcBef>
                <a:spcPct val="0"/>
              </a:spcBef>
            </a:pPr>
            <a:r>
              <a:rPr lang="en-US" b="true" sz="348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Stratified Sampling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0439" y="6025372"/>
            <a:ext cx="6606572" cy="71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71"/>
              </a:lnSpc>
              <a:spcBef>
                <a:spcPct val="0"/>
              </a:spcBef>
            </a:pPr>
            <a:r>
              <a:rPr lang="en-US" b="true" sz="348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Class Imbalance Mitigation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96054" y="1190625"/>
            <a:ext cx="12864903" cy="8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1"/>
              </a:lnSpc>
            </a:pPr>
            <a:r>
              <a:rPr lang="en-US" b="true" sz="63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Research Framework</a:t>
            </a:r>
          </a:p>
        </p:txBody>
      </p:sp>
      <p:sp>
        <p:nvSpPr>
          <p:cNvPr name="Freeform 18" id="18"/>
          <p:cNvSpPr/>
          <p:nvPr/>
        </p:nvSpPr>
        <p:spPr>
          <a:xfrm flipH="true" flipV="true" rot="-10800000">
            <a:off x="-944910" y="4203366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7768507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7" y="0"/>
                </a:lnTo>
                <a:lnTo>
                  <a:pt x="7768507" y="7166448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9327784" y="5759175"/>
            <a:ext cx="7766490" cy="3280050"/>
            <a:chOff x="0" y="0"/>
            <a:chExt cx="2045495" cy="8638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5495" cy="863882"/>
            </a:xfrm>
            <a:custGeom>
              <a:avLst/>
              <a:gdLst/>
              <a:ahLst/>
              <a:cxnLst/>
              <a:rect r="r" b="b" t="t" l="l"/>
              <a:pathLst>
                <a:path h="863882" w="2045495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5005"/>
                  </a:lnTo>
                  <a:cubicBezTo>
                    <a:pt x="2045495" y="835316"/>
                    <a:pt x="2041399" y="845204"/>
                    <a:pt x="2034109" y="852495"/>
                  </a:cubicBezTo>
                  <a:cubicBezTo>
                    <a:pt x="2026818" y="859786"/>
                    <a:pt x="2016929" y="863882"/>
                    <a:pt x="2006619" y="863882"/>
                  </a:cubicBezTo>
                  <a:lnTo>
                    <a:pt x="38877" y="863882"/>
                  </a:lnTo>
                  <a:cubicBezTo>
                    <a:pt x="28566" y="863882"/>
                    <a:pt x="18677" y="859786"/>
                    <a:pt x="11387" y="852495"/>
                  </a:cubicBezTo>
                  <a:cubicBezTo>
                    <a:pt x="4096" y="845204"/>
                    <a:pt x="0" y="835316"/>
                    <a:pt x="0" y="825005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5E4D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45495" cy="911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51491" y="6855603"/>
            <a:ext cx="6747171" cy="127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ensor Shape: 16 × 224 × 224 × 3</a:t>
            </a:r>
          </a:p>
          <a:p>
            <a:pPr algn="l" marL="474979" indent="-237490" lvl="1">
              <a:lnSpc>
                <a:spcPts val="334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Batch Size: 4</a:t>
            </a:r>
          </a:p>
          <a:p>
            <a:pPr algn="l" marL="0" indent="0" lvl="1">
              <a:lnSpc>
                <a:spcPts val="3343"/>
              </a:lnSpc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-5400000">
            <a:off x="12994191" y="4353248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651491" y="6025372"/>
            <a:ext cx="6606572" cy="71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71"/>
              </a:lnSpc>
              <a:spcBef>
                <a:spcPct val="0"/>
              </a:spcBef>
            </a:pPr>
            <a:r>
              <a:rPr lang="en-US" b="true" sz="348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Tr</a:t>
            </a:r>
            <a:r>
              <a:rPr lang="en-US" b="true" sz="348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aining Data Format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4647" y="1046515"/>
            <a:ext cx="8884653" cy="3954441"/>
          </a:xfrm>
          <a:custGeom>
            <a:avLst/>
            <a:gdLst/>
            <a:ahLst/>
            <a:cxnLst/>
            <a:rect r="r" b="b" t="t" l="l"/>
            <a:pathLst>
              <a:path h="3954441" w="8884653">
                <a:moveTo>
                  <a:pt x="0" y="0"/>
                </a:moveTo>
                <a:lnTo>
                  <a:pt x="8884653" y="0"/>
                </a:lnTo>
                <a:lnTo>
                  <a:pt x="8884653" y="3954441"/>
                </a:lnTo>
                <a:lnTo>
                  <a:pt x="0" y="3954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79840"/>
            <a:ext cx="6338253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</a:t>
            </a:r>
            <a:r>
              <a:rPr lang="en-US" b="true" sz="3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Augmentation Strategies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7037" y="1769124"/>
            <a:ext cx="7048128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Spatial Augmentation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Horizontal Flip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Brightness 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Adjustment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Contrast Adjustment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consistently across all 16 frames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57037" y="4703459"/>
            <a:ext cx="628157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Video-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Aware Mixing Techniques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441328"/>
            <a:ext cx="6387782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MixUp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Blen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two video clips and labels</a:t>
            </a:r>
          </a:p>
          <a:p>
            <a:pPr algn="l">
              <a:lnSpc>
                <a:spcPts val="3639"/>
              </a:lnSpc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CutMix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Insert spatial patch across all frames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Adjust label using mixed-region ratio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374647" y="7974330"/>
            <a:ext cx="6503245" cy="231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Efficient</a:t>
            </a:r>
            <a:r>
              <a:rPr lang="en-US" b="true" sz="2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Training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Augmentations applied on-the-fly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 data generator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additional storage overhead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2816973" y="-213942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-695311" y="4125676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7768507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7" y="0"/>
                </a:lnTo>
                <a:lnTo>
                  <a:pt x="7768507" y="716644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8374647" y="5331308"/>
            <a:ext cx="8312121" cy="231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Why?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preserve the physical realism and lighting of the scene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be much more reliable on edge cases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preserve the temporal context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00200" y="-1257300"/>
            <a:ext cx="3886200" cy="3429000"/>
            <a:chOff x="0" y="0"/>
            <a:chExt cx="5181600" cy="457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6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5181600">
                  <a:moveTo>
                    <a:pt x="0" y="2286000"/>
                  </a:moveTo>
                  <a:cubicBezTo>
                    <a:pt x="0" y="1023493"/>
                    <a:pt x="1159891" y="0"/>
                    <a:pt x="2590800" y="0"/>
                  </a:cubicBezTo>
                  <a:cubicBezTo>
                    <a:pt x="4021709" y="0"/>
                    <a:pt x="5181600" y="1023493"/>
                    <a:pt x="5181600" y="2286000"/>
                  </a:cubicBezTo>
                  <a:cubicBezTo>
                    <a:pt x="5181600" y="3548507"/>
                    <a:pt x="4021709" y="4572000"/>
                    <a:pt x="2590800" y="4572000"/>
                  </a:cubicBezTo>
                  <a:cubicBezTo>
                    <a:pt x="1159891" y="4572000"/>
                    <a:pt x="0" y="3548507"/>
                    <a:pt x="0" y="2286000"/>
                  </a:cubicBezTo>
                  <a:close/>
                </a:path>
              </a:pathLst>
            </a:custGeom>
            <a:solidFill>
              <a:srgbClr val="DAE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28700" y="8001000"/>
            <a:ext cx="5372100" cy="2971800"/>
            <a:chOff x="0" y="0"/>
            <a:chExt cx="7162800" cy="396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628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7162800">
                  <a:moveTo>
                    <a:pt x="0" y="1981200"/>
                  </a:moveTo>
                  <a:cubicBezTo>
                    <a:pt x="0" y="886968"/>
                    <a:pt x="1603502" y="0"/>
                    <a:pt x="3581400" y="0"/>
                  </a:cubicBezTo>
                  <a:cubicBezTo>
                    <a:pt x="5559298" y="0"/>
                    <a:pt x="7162800" y="886968"/>
                    <a:pt x="7162800" y="1981200"/>
                  </a:cubicBezTo>
                  <a:cubicBezTo>
                    <a:pt x="7162800" y="3075432"/>
                    <a:pt x="5559298" y="3962400"/>
                    <a:pt x="3581400" y="3962400"/>
                  </a:cubicBezTo>
                  <a:cubicBezTo>
                    <a:pt x="1603502" y="3962400"/>
                    <a:pt x="0" y="3075432"/>
                    <a:pt x="0" y="19812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0" y="-1028700"/>
            <a:ext cx="4800600" cy="2857500"/>
            <a:chOff x="0" y="0"/>
            <a:chExt cx="64008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08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400800">
                  <a:moveTo>
                    <a:pt x="0" y="1905000"/>
                  </a:moveTo>
                  <a:cubicBezTo>
                    <a:pt x="0" y="852932"/>
                    <a:pt x="1432814" y="0"/>
                    <a:pt x="3200400" y="0"/>
                  </a:cubicBezTo>
                  <a:cubicBezTo>
                    <a:pt x="4967986" y="0"/>
                    <a:pt x="6400800" y="852932"/>
                    <a:pt x="6400800" y="1905000"/>
                  </a:cubicBezTo>
                  <a:cubicBezTo>
                    <a:pt x="6400800" y="2957068"/>
                    <a:pt x="4967986" y="3810000"/>
                    <a:pt x="3200400" y="3810000"/>
                  </a:cubicBezTo>
                  <a:cubicBezTo>
                    <a:pt x="1432814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87500" y="7886700"/>
            <a:ext cx="5029200" cy="3200400"/>
            <a:chOff x="0" y="0"/>
            <a:chExt cx="6705600" cy="426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5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6705600">
                  <a:moveTo>
                    <a:pt x="0" y="2133600"/>
                  </a:moveTo>
                  <a:cubicBezTo>
                    <a:pt x="0" y="955294"/>
                    <a:pt x="1501140" y="0"/>
                    <a:pt x="3352800" y="0"/>
                  </a:cubicBezTo>
                  <a:cubicBezTo>
                    <a:pt x="5204460" y="0"/>
                    <a:pt x="6705600" y="955294"/>
                    <a:pt x="6705600" y="2133600"/>
                  </a:cubicBezTo>
                  <a:cubicBezTo>
                    <a:pt x="6705600" y="3311906"/>
                    <a:pt x="5204460" y="4267200"/>
                    <a:pt x="3352800" y="4267200"/>
                  </a:cubicBezTo>
                  <a:cubicBezTo>
                    <a:pt x="1501140" y="4267200"/>
                    <a:pt x="0" y="3311906"/>
                    <a:pt x="0" y="2133600"/>
                  </a:cubicBezTo>
                  <a:close/>
                </a:path>
              </a:pathLst>
            </a:custGeom>
            <a:solidFill>
              <a:srgbClr val="DAED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316450" y="0"/>
            <a:ext cx="205740" cy="1543050"/>
            <a:chOff x="0" y="0"/>
            <a:chExt cx="274320" cy="205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320" cy="2057400"/>
            </a:xfrm>
            <a:custGeom>
              <a:avLst/>
              <a:gdLst/>
              <a:ahLst/>
              <a:cxnLst/>
              <a:rect r="r" b="b" t="t" l="l"/>
              <a:pathLst>
                <a:path h="2057400" w="27432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228600" y="0"/>
                  </a:lnTo>
                  <a:cubicBezTo>
                    <a:pt x="253873" y="0"/>
                    <a:pt x="274320" y="20447"/>
                    <a:pt x="274320" y="45720"/>
                  </a:cubicBezTo>
                  <a:lnTo>
                    <a:pt x="274320" y="2011680"/>
                  </a:lnTo>
                  <a:cubicBezTo>
                    <a:pt x="274320" y="2036953"/>
                    <a:pt x="253873" y="2057400"/>
                    <a:pt x="228600" y="2057400"/>
                  </a:cubicBezTo>
                  <a:lnTo>
                    <a:pt x="45720" y="2057400"/>
                  </a:lnTo>
                  <a:cubicBezTo>
                    <a:pt x="20447" y="2057400"/>
                    <a:pt x="0" y="2036953"/>
                    <a:pt x="0" y="201168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8972550"/>
            <a:ext cx="2514600" cy="205740"/>
            <a:chOff x="0" y="0"/>
            <a:chExt cx="335280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52800" cy="274320"/>
            </a:xfrm>
            <a:custGeom>
              <a:avLst/>
              <a:gdLst/>
              <a:ahLst/>
              <a:cxnLst/>
              <a:rect r="r" b="b" t="t" l="l"/>
              <a:pathLst>
                <a:path h="274320" w="335280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3307080" y="0"/>
                  </a:lnTo>
                  <a:cubicBezTo>
                    <a:pt x="3332353" y="0"/>
                    <a:pt x="3352800" y="20447"/>
                    <a:pt x="3352800" y="45720"/>
                  </a:cubicBezTo>
                  <a:lnTo>
                    <a:pt x="3352800" y="228600"/>
                  </a:lnTo>
                  <a:cubicBezTo>
                    <a:pt x="3352800" y="253873"/>
                    <a:pt x="3332353" y="274320"/>
                    <a:pt x="3307080" y="274320"/>
                  </a:cubicBezTo>
                  <a:lnTo>
                    <a:pt x="45720" y="274320"/>
                  </a:lnTo>
                  <a:cubicBezTo>
                    <a:pt x="20447" y="274320"/>
                    <a:pt x="0" y="253873"/>
                    <a:pt x="0" y="22860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80060"/>
            <a:ext cx="13487400" cy="685800"/>
            <a:chOff x="0" y="0"/>
            <a:chExt cx="179832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8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983200">
                  <a:moveTo>
                    <a:pt x="0" y="0"/>
                  </a:moveTo>
                  <a:lnTo>
                    <a:pt x="17983200" y="0"/>
                  </a:lnTo>
                  <a:lnTo>
                    <a:pt x="1798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7983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50"/>
                </a:lnSpc>
              </a:pPr>
              <a:r>
                <a:rPr lang="en-US" sz="387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 Family Models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1314450"/>
            <a:ext cx="4572000" cy="40005"/>
            <a:chOff x="0" y="0"/>
            <a:chExt cx="6096000" cy="533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53340"/>
            </a:xfrm>
            <a:custGeom>
              <a:avLst/>
              <a:gdLst/>
              <a:ahLst/>
              <a:cxnLst/>
              <a:rect r="r" b="b" t="t" l="l"/>
              <a:pathLst>
                <a:path h="533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1771650"/>
            <a:ext cx="15430500" cy="571500"/>
            <a:chOff x="0" y="0"/>
            <a:chExt cx="20574000" cy="76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57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0574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Video anomaly detection must understand both space and time.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0625" y="2447925"/>
            <a:ext cx="6134100" cy="2819400"/>
            <a:chOff x="0" y="0"/>
            <a:chExt cx="8178800" cy="375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788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8178800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7552309" y="0"/>
                  </a:lnTo>
                  <a:cubicBezTo>
                    <a:pt x="7898257" y="0"/>
                    <a:pt x="8178800" y="280543"/>
                    <a:pt x="8178800" y="626491"/>
                  </a:cubicBezTo>
                  <a:lnTo>
                    <a:pt x="8178800" y="3132709"/>
                  </a:lnTo>
                  <a:cubicBezTo>
                    <a:pt x="8178800" y="3478784"/>
                    <a:pt x="7898257" y="3759200"/>
                    <a:pt x="7552309" y="3759200"/>
                  </a:cubicBezTo>
                  <a:lnTo>
                    <a:pt x="626491" y="3759200"/>
                  </a:lnTo>
                  <a:cubicBezTo>
                    <a:pt x="280543" y="3759200"/>
                    <a:pt x="0" y="3478657"/>
                    <a:pt x="0" y="31327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980B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97644" y="3154994"/>
            <a:ext cx="890902" cy="890902"/>
            <a:chOff x="0" y="0"/>
            <a:chExt cx="1187869" cy="11878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7831" cy="1187831"/>
            </a:xfrm>
            <a:custGeom>
              <a:avLst/>
              <a:gdLst/>
              <a:ahLst/>
              <a:cxnLst/>
              <a:rect r="r" b="b" t="t" l="l"/>
              <a:pathLst>
                <a:path h="1187831" w="1187831">
                  <a:moveTo>
                    <a:pt x="0" y="593979"/>
                  </a:moveTo>
                  <a:cubicBezTo>
                    <a:pt x="0" y="265938"/>
                    <a:pt x="265938" y="0"/>
                    <a:pt x="593979" y="0"/>
                  </a:cubicBezTo>
                  <a:cubicBezTo>
                    <a:pt x="922020" y="0"/>
                    <a:pt x="1187831" y="265938"/>
                    <a:pt x="1187831" y="593979"/>
                  </a:cubicBezTo>
                  <a:cubicBezTo>
                    <a:pt x="1187831" y="922020"/>
                    <a:pt x="922020" y="1187831"/>
                    <a:pt x="593979" y="1187831"/>
                  </a:cubicBezTo>
                  <a:cubicBezTo>
                    <a:pt x="265938" y="1187831"/>
                    <a:pt x="0" y="922020"/>
                    <a:pt x="0" y="593979"/>
                  </a:cubicBezTo>
                  <a:close/>
                </a:path>
              </a:pathLst>
            </a:custGeom>
            <a:solidFill>
              <a:srgbClr val="F8FCFA"/>
            </a:solidFill>
            <a:ln w="22225" cap="sq">
              <a:solidFill>
                <a:srgbClr val="2980B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03070" y="3291840"/>
            <a:ext cx="514350" cy="514350"/>
            <a:chOff x="0" y="0"/>
            <a:chExt cx="685800" cy="685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685800" cy="752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49"/>
                </a:lnSpc>
              </a:pPr>
              <a:r>
                <a:rPr lang="en-US" sz="3374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▣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514600" y="2800350"/>
            <a:ext cx="4343400" cy="514350"/>
            <a:chOff x="0" y="0"/>
            <a:chExt cx="5791200" cy="685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912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7912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50"/>
                </a:lnSpc>
              </a:pPr>
              <a:r>
                <a:rPr lang="en-US" sz="3125" b="true">
                  <a:solidFill>
                    <a:srgbClr val="2980B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Space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514600" y="3486150"/>
            <a:ext cx="4343400" cy="628650"/>
            <a:chOff x="0" y="0"/>
            <a:chExt cx="5791200" cy="838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91200" cy="838200"/>
            </a:xfrm>
            <a:custGeom>
              <a:avLst/>
              <a:gdLst/>
              <a:ahLst/>
              <a:cxnLst/>
              <a:rect r="r" b="b" t="t" l="l"/>
              <a:pathLst>
                <a:path h="8382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7912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4"/>
                </a:lnSpc>
              </a:pPr>
              <a:r>
                <a:rPr lang="en-US" sz="2062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is happening</a:t>
              </a:r>
            </a:p>
            <a:p>
              <a:pPr algn="l">
                <a:lnSpc>
                  <a:spcPts val="2474"/>
                </a:lnSpc>
              </a:pPr>
              <a:r>
                <a:rPr lang="en-US" sz="2062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inside each frame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514600" y="4171950"/>
            <a:ext cx="4343400" cy="742950"/>
            <a:chOff x="0" y="0"/>
            <a:chExt cx="5791200" cy="990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1200" cy="990600"/>
            </a:xfrm>
            <a:custGeom>
              <a:avLst/>
              <a:gdLst/>
              <a:ahLst/>
              <a:cxnLst/>
              <a:rect r="r" b="b" t="t" l="l"/>
              <a:pathLst>
                <a:path h="9906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12" r="0" b="-639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57912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5"/>
                </a:lnSpc>
              </a:pPr>
              <a:r>
                <a:rPr lang="en-US" sz="1812">
                  <a:solidFill>
                    <a:srgbClr val="626B70"/>
                  </a:solidFill>
                  <a:latin typeface="Aptos"/>
                  <a:ea typeface="Aptos"/>
                  <a:cs typeface="Aptos"/>
                  <a:sym typeface="Aptos"/>
                </a:rPr>
                <a:t>person · road · crowd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77475" y="2447925"/>
            <a:ext cx="6134100" cy="2819400"/>
            <a:chOff x="0" y="0"/>
            <a:chExt cx="8178800" cy="375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788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8178800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7552309" y="0"/>
                  </a:lnTo>
                  <a:cubicBezTo>
                    <a:pt x="7898257" y="0"/>
                    <a:pt x="8178800" y="280543"/>
                    <a:pt x="8178800" y="626491"/>
                  </a:cubicBezTo>
                  <a:lnTo>
                    <a:pt x="8178800" y="3132709"/>
                  </a:lnTo>
                  <a:cubicBezTo>
                    <a:pt x="8178800" y="3478784"/>
                    <a:pt x="7898257" y="3759200"/>
                    <a:pt x="7552309" y="3759200"/>
                  </a:cubicBezTo>
                  <a:lnTo>
                    <a:pt x="626491" y="3759200"/>
                  </a:lnTo>
                  <a:cubicBezTo>
                    <a:pt x="280543" y="3759200"/>
                    <a:pt x="0" y="3478657"/>
                    <a:pt x="0" y="31327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813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584494" y="3154994"/>
            <a:ext cx="890902" cy="890902"/>
            <a:chOff x="0" y="0"/>
            <a:chExt cx="1187869" cy="11878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87831" cy="1187831"/>
            </a:xfrm>
            <a:custGeom>
              <a:avLst/>
              <a:gdLst/>
              <a:ahLst/>
              <a:cxnLst/>
              <a:rect r="r" b="b" t="t" l="l"/>
              <a:pathLst>
                <a:path h="1187831" w="1187831">
                  <a:moveTo>
                    <a:pt x="0" y="593979"/>
                  </a:moveTo>
                  <a:cubicBezTo>
                    <a:pt x="0" y="265938"/>
                    <a:pt x="265938" y="0"/>
                    <a:pt x="593979" y="0"/>
                  </a:cubicBezTo>
                  <a:cubicBezTo>
                    <a:pt x="922020" y="0"/>
                    <a:pt x="1187831" y="265938"/>
                    <a:pt x="1187831" y="593979"/>
                  </a:cubicBezTo>
                  <a:cubicBezTo>
                    <a:pt x="1187831" y="922020"/>
                    <a:pt x="922020" y="1187831"/>
                    <a:pt x="593979" y="1187831"/>
                  </a:cubicBezTo>
                  <a:cubicBezTo>
                    <a:pt x="265938" y="1187831"/>
                    <a:pt x="0" y="922020"/>
                    <a:pt x="0" y="593979"/>
                  </a:cubicBezTo>
                  <a:close/>
                </a:path>
              </a:pathLst>
            </a:custGeom>
            <a:solidFill>
              <a:srgbClr val="F8FCFA"/>
            </a:solidFill>
            <a:ln w="22225" cap="sq">
              <a:solidFill>
                <a:srgbClr val="E4813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789920" y="3291840"/>
            <a:ext cx="514350" cy="514350"/>
            <a:chOff x="0" y="0"/>
            <a:chExt cx="685800" cy="685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685800" cy="752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49"/>
                </a:lnSpc>
              </a:pPr>
              <a:r>
                <a:rPr lang="en-US" sz="3374" b="true">
                  <a:solidFill>
                    <a:srgbClr val="E48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◷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01450" y="2800350"/>
            <a:ext cx="4343400" cy="514350"/>
            <a:chOff x="0" y="0"/>
            <a:chExt cx="5791200" cy="685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912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7912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50"/>
                </a:lnSpc>
              </a:pPr>
              <a:r>
                <a:rPr lang="en-US" sz="3125" b="true">
                  <a:solidFill>
                    <a:srgbClr val="E48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Time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601450" y="3486150"/>
            <a:ext cx="4343400" cy="628650"/>
            <a:chOff x="0" y="0"/>
            <a:chExt cx="5791200" cy="838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91200" cy="838200"/>
            </a:xfrm>
            <a:custGeom>
              <a:avLst/>
              <a:gdLst/>
              <a:ahLst/>
              <a:cxnLst/>
              <a:rect r="r" b="b" t="t" l="l"/>
              <a:pathLst>
                <a:path h="8382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7912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4"/>
                </a:lnSpc>
              </a:pPr>
              <a:r>
                <a:rPr lang="en-US" sz="2062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How things change</a:t>
              </a:r>
            </a:p>
            <a:p>
              <a:pPr algn="l">
                <a:lnSpc>
                  <a:spcPts val="2474"/>
                </a:lnSpc>
              </a:pPr>
              <a:r>
                <a:rPr lang="en-US" sz="2062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across frames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601450" y="4171950"/>
            <a:ext cx="4343400" cy="742950"/>
            <a:chOff x="0" y="0"/>
            <a:chExt cx="5791200" cy="990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91200" cy="990600"/>
            </a:xfrm>
            <a:custGeom>
              <a:avLst/>
              <a:gdLst/>
              <a:ahLst/>
              <a:cxnLst/>
              <a:rect r="r" b="b" t="t" l="l"/>
              <a:pathLst>
                <a:path h="9906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12" r="0" b="-6391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57912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5"/>
                </a:lnSpc>
              </a:pPr>
              <a:r>
                <a:rPr lang="en-US" sz="1812">
                  <a:solidFill>
                    <a:srgbClr val="626B70"/>
                  </a:solidFill>
                  <a:latin typeface="Aptos"/>
                  <a:ea typeface="Aptos"/>
                  <a:cs typeface="Aptos"/>
                  <a:sym typeface="Aptos"/>
                </a:rPr>
                <a:t>movement · fighting · running</a:t>
              </a:r>
            </a:p>
            <a:p>
              <a:pPr algn="l">
                <a:lnSpc>
                  <a:spcPts val="2175"/>
                </a:lnSpc>
              </a:pPr>
              <a:r>
                <a:rPr lang="en-US" sz="1812">
                  <a:solidFill>
                    <a:srgbClr val="626B70"/>
                  </a:solidFill>
                  <a:latin typeface="Aptos"/>
                  <a:ea typeface="Aptos"/>
                  <a:cs typeface="Aptos"/>
                  <a:sym typeface="Aptos"/>
                </a:rPr>
                <a:t>sudden abnormal motion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733675" y="5876925"/>
            <a:ext cx="2419350" cy="727710"/>
            <a:chOff x="0" y="0"/>
            <a:chExt cx="3225800" cy="970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225800" cy="970280"/>
            </a:xfrm>
            <a:custGeom>
              <a:avLst/>
              <a:gdLst/>
              <a:ahLst/>
              <a:cxnLst/>
              <a:rect r="r" b="b" t="t" l="l"/>
              <a:pathLst>
                <a:path h="970280" w="3225800">
                  <a:moveTo>
                    <a:pt x="0" y="161671"/>
                  </a:moveTo>
                  <a:cubicBezTo>
                    <a:pt x="0" y="72390"/>
                    <a:pt x="72390" y="0"/>
                    <a:pt x="161671" y="0"/>
                  </a:cubicBezTo>
                  <a:lnTo>
                    <a:pt x="3064129" y="0"/>
                  </a:lnTo>
                  <a:cubicBezTo>
                    <a:pt x="3153410" y="0"/>
                    <a:pt x="3225800" y="72390"/>
                    <a:pt x="3225800" y="161671"/>
                  </a:cubicBezTo>
                  <a:lnTo>
                    <a:pt x="3225800" y="808609"/>
                  </a:lnTo>
                  <a:cubicBezTo>
                    <a:pt x="3225800" y="897890"/>
                    <a:pt x="3153410" y="970280"/>
                    <a:pt x="3064129" y="970280"/>
                  </a:cubicBezTo>
                  <a:lnTo>
                    <a:pt x="161671" y="970280"/>
                  </a:lnTo>
                  <a:cubicBezTo>
                    <a:pt x="72390" y="970280"/>
                    <a:pt x="0" y="897890"/>
                    <a:pt x="0" y="80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980B9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2834640" y="5920740"/>
            <a:ext cx="2217420" cy="640080"/>
            <a:chOff x="0" y="0"/>
            <a:chExt cx="295656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56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956560">
                  <a:moveTo>
                    <a:pt x="0" y="0"/>
                  </a:moveTo>
                  <a:lnTo>
                    <a:pt x="2956560" y="0"/>
                  </a:lnTo>
                  <a:lnTo>
                    <a:pt x="2956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9525"/>
              <a:ext cx="295656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2980B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Space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429250" y="5863590"/>
            <a:ext cx="400050" cy="685800"/>
            <a:chOff x="0" y="0"/>
            <a:chExt cx="53340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3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533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49"/>
                </a:lnSpc>
              </a:pPr>
              <a:r>
                <a:rPr lang="en-US" sz="4124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+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334125" y="5876925"/>
            <a:ext cx="2419350" cy="727710"/>
            <a:chOff x="0" y="0"/>
            <a:chExt cx="3225800" cy="970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25800" cy="970280"/>
            </a:xfrm>
            <a:custGeom>
              <a:avLst/>
              <a:gdLst/>
              <a:ahLst/>
              <a:cxnLst/>
              <a:rect r="r" b="b" t="t" l="l"/>
              <a:pathLst>
                <a:path h="970280" w="3225800">
                  <a:moveTo>
                    <a:pt x="0" y="161671"/>
                  </a:moveTo>
                  <a:cubicBezTo>
                    <a:pt x="0" y="72390"/>
                    <a:pt x="72390" y="0"/>
                    <a:pt x="161671" y="0"/>
                  </a:cubicBezTo>
                  <a:lnTo>
                    <a:pt x="3064129" y="0"/>
                  </a:lnTo>
                  <a:cubicBezTo>
                    <a:pt x="3153410" y="0"/>
                    <a:pt x="3225800" y="72390"/>
                    <a:pt x="3225800" y="161671"/>
                  </a:cubicBezTo>
                  <a:lnTo>
                    <a:pt x="3225800" y="808609"/>
                  </a:lnTo>
                  <a:cubicBezTo>
                    <a:pt x="3225800" y="897890"/>
                    <a:pt x="3153410" y="970280"/>
                    <a:pt x="3064129" y="970280"/>
                  </a:cubicBezTo>
                  <a:lnTo>
                    <a:pt x="161671" y="970280"/>
                  </a:lnTo>
                  <a:cubicBezTo>
                    <a:pt x="72390" y="970280"/>
                    <a:pt x="0" y="897890"/>
                    <a:pt x="0" y="80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813A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435090" y="5920740"/>
            <a:ext cx="2217420" cy="640080"/>
            <a:chOff x="0" y="0"/>
            <a:chExt cx="295656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56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956560">
                  <a:moveTo>
                    <a:pt x="0" y="0"/>
                  </a:moveTo>
                  <a:lnTo>
                    <a:pt x="2956560" y="0"/>
                  </a:lnTo>
                  <a:lnTo>
                    <a:pt x="2956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01" r="0" b="-1750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9525"/>
              <a:ext cx="295656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E48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Time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129539">
            <a:off x="9034767" y="6219825"/>
            <a:ext cx="927125" cy="0"/>
          </a:xfrm>
          <a:prstGeom prst="line">
            <a:avLst/>
          </a:prstGeom>
          <a:ln cap="rnd" w="19050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10277475" y="5648325"/>
            <a:ext cx="5334000" cy="1139190"/>
            <a:chOff x="0" y="0"/>
            <a:chExt cx="7112000" cy="1518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112000" cy="1518920"/>
            </a:xfrm>
            <a:custGeom>
              <a:avLst/>
              <a:gdLst/>
              <a:ahLst/>
              <a:cxnLst/>
              <a:rect r="r" b="b" t="t" l="l"/>
              <a:pathLst>
                <a:path h="1518920" w="7112000">
                  <a:moveTo>
                    <a:pt x="0" y="253111"/>
                  </a:moveTo>
                  <a:cubicBezTo>
                    <a:pt x="0" y="113284"/>
                    <a:pt x="113284" y="0"/>
                    <a:pt x="253111" y="0"/>
                  </a:cubicBezTo>
                  <a:lnTo>
                    <a:pt x="6858889" y="0"/>
                  </a:lnTo>
                  <a:cubicBezTo>
                    <a:pt x="6998716" y="0"/>
                    <a:pt x="7112000" y="113284"/>
                    <a:pt x="7112000" y="253111"/>
                  </a:cubicBezTo>
                  <a:lnTo>
                    <a:pt x="7112000" y="1265809"/>
                  </a:lnTo>
                  <a:cubicBezTo>
                    <a:pt x="7112000" y="1405636"/>
                    <a:pt x="6998716" y="1518920"/>
                    <a:pt x="6858889" y="1518920"/>
                  </a:cubicBezTo>
                  <a:lnTo>
                    <a:pt x="253111" y="1518920"/>
                  </a:lnTo>
                  <a:cubicBezTo>
                    <a:pt x="113284" y="1518920"/>
                    <a:pt x="0" y="1405636"/>
                    <a:pt x="0" y="1265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378440" y="5692140"/>
            <a:ext cx="5132070" cy="1051560"/>
            <a:chOff x="0" y="0"/>
            <a:chExt cx="6842760" cy="14020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42760" cy="1402078"/>
            </a:xfrm>
            <a:custGeom>
              <a:avLst/>
              <a:gdLst/>
              <a:ahLst/>
              <a:cxnLst/>
              <a:rect r="r" b="b" t="t" l="l"/>
              <a:pathLst>
                <a:path h="1402078" w="6842760">
                  <a:moveTo>
                    <a:pt x="0" y="0"/>
                  </a:moveTo>
                  <a:lnTo>
                    <a:pt x="6842760" y="0"/>
                  </a:lnTo>
                  <a:lnTo>
                    <a:pt x="6842760" y="1402078"/>
                  </a:lnTo>
                  <a:lnTo>
                    <a:pt x="0" y="14020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95" r="0" b="-4509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9525"/>
              <a:ext cx="6842760" cy="1392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Spatiotemporal</a:t>
              </a:r>
            </a:p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Understanding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33475" y="7362825"/>
            <a:ext cx="16021050" cy="990600"/>
            <a:chOff x="0" y="0"/>
            <a:chExt cx="21361400" cy="1320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361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13614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21141310" y="0"/>
                  </a:lnTo>
                  <a:cubicBezTo>
                    <a:pt x="21262848" y="0"/>
                    <a:pt x="21361400" y="98552"/>
                    <a:pt x="21361400" y="220091"/>
                  </a:cubicBezTo>
                  <a:lnTo>
                    <a:pt x="21361400" y="1100709"/>
                  </a:lnTo>
                  <a:cubicBezTo>
                    <a:pt x="21361400" y="1222248"/>
                    <a:pt x="21262848" y="1320800"/>
                    <a:pt x="21141310" y="1320800"/>
                  </a:cubicBezTo>
                  <a:lnTo>
                    <a:pt x="220091" y="1320800"/>
                  </a:lnTo>
                  <a:cubicBezTo>
                    <a:pt x="98552" y="1320800"/>
                    <a:pt x="0" y="1222248"/>
                    <a:pt x="0" y="1100709"/>
                  </a:cubicBezTo>
                  <a:close/>
                </a:path>
              </a:pathLst>
            </a:custGeom>
            <a:solidFill>
              <a:srgbClr val="E8F4EE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771650" y="7498080"/>
            <a:ext cx="14744700" cy="628650"/>
            <a:chOff x="0" y="0"/>
            <a:chExt cx="19659600" cy="838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659600" cy="838200"/>
            </a:xfrm>
            <a:custGeom>
              <a:avLst/>
              <a:gdLst/>
              <a:ahLst/>
              <a:cxnLst/>
              <a:rect r="r" b="b" t="t" l="l"/>
              <a:pathLst>
                <a:path h="838200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7012" r="0" b="-40701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196596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0"/>
                </a:lnSpc>
              </a:pPr>
              <a:r>
                <a:rPr lang="en-US" sz="212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Traditional 3D CNNs can capture spatiotemporal information, but many are computationally heavy.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743200" y="8743950"/>
            <a:ext cx="12915900" cy="628650"/>
            <a:chOff x="0" y="0"/>
            <a:chExt cx="17221200" cy="838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221200" cy="838200"/>
            </a:xfrm>
            <a:custGeom>
              <a:avLst/>
              <a:gdLst/>
              <a:ahLst/>
              <a:cxnLst/>
              <a:rect r="r" b="b" t="t" l="l"/>
              <a:pathLst>
                <a:path h="838200" w="17221200">
                  <a:moveTo>
                    <a:pt x="0" y="0"/>
                  </a:moveTo>
                  <a:lnTo>
                    <a:pt x="17221200" y="0"/>
                  </a:lnTo>
                  <a:lnTo>
                    <a:pt x="172212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328" r="0" b="-35032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72212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00"/>
                </a:lnSpc>
              </a:pPr>
              <a:r>
                <a:rPr lang="en-US" sz="3250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That is why we proposed the Nano3D family.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725400" y="-876300"/>
            <a:ext cx="4800600" cy="2857500"/>
            <a:chOff x="0" y="0"/>
            <a:chExt cx="6400800" cy="3810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4008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400800">
                  <a:moveTo>
                    <a:pt x="0" y="1905000"/>
                  </a:moveTo>
                  <a:cubicBezTo>
                    <a:pt x="0" y="852932"/>
                    <a:pt x="1432814" y="0"/>
                    <a:pt x="3200400" y="0"/>
                  </a:cubicBezTo>
                  <a:cubicBezTo>
                    <a:pt x="4967986" y="0"/>
                    <a:pt x="6400800" y="852932"/>
                    <a:pt x="6400800" y="1905000"/>
                  </a:cubicBezTo>
                  <a:cubicBezTo>
                    <a:pt x="6400800" y="2957068"/>
                    <a:pt x="4967986" y="3810000"/>
                    <a:pt x="3200400" y="3810000"/>
                  </a:cubicBezTo>
                  <a:cubicBezTo>
                    <a:pt x="1432814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00200" y="-1257300"/>
            <a:ext cx="3886200" cy="3429000"/>
            <a:chOff x="0" y="0"/>
            <a:chExt cx="5181600" cy="457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6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5181600">
                  <a:moveTo>
                    <a:pt x="0" y="2286000"/>
                  </a:moveTo>
                  <a:cubicBezTo>
                    <a:pt x="0" y="1023493"/>
                    <a:pt x="1159891" y="0"/>
                    <a:pt x="2590800" y="0"/>
                  </a:cubicBezTo>
                  <a:cubicBezTo>
                    <a:pt x="4021709" y="0"/>
                    <a:pt x="5181600" y="1023493"/>
                    <a:pt x="5181600" y="2286000"/>
                  </a:cubicBezTo>
                  <a:cubicBezTo>
                    <a:pt x="5181600" y="3548507"/>
                    <a:pt x="4021709" y="4572000"/>
                    <a:pt x="2590800" y="4572000"/>
                  </a:cubicBezTo>
                  <a:cubicBezTo>
                    <a:pt x="1159891" y="4572000"/>
                    <a:pt x="0" y="3548507"/>
                    <a:pt x="0" y="2286000"/>
                  </a:cubicBezTo>
                  <a:close/>
                </a:path>
              </a:pathLst>
            </a:custGeom>
            <a:solidFill>
              <a:srgbClr val="DAE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28700" y="8001000"/>
            <a:ext cx="5372100" cy="2971800"/>
            <a:chOff x="0" y="0"/>
            <a:chExt cx="7162800" cy="396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628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7162800">
                  <a:moveTo>
                    <a:pt x="0" y="1981200"/>
                  </a:moveTo>
                  <a:cubicBezTo>
                    <a:pt x="0" y="886968"/>
                    <a:pt x="1603502" y="0"/>
                    <a:pt x="3581400" y="0"/>
                  </a:cubicBezTo>
                  <a:cubicBezTo>
                    <a:pt x="5559298" y="0"/>
                    <a:pt x="7162800" y="886968"/>
                    <a:pt x="7162800" y="1981200"/>
                  </a:cubicBezTo>
                  <a:cubicBezTo>
                    <a:pt x="7162800" y="3075432"/>
                    <a:pt x="5559298" y="3962400"/>
                    <a:pt x="3581400" y="3962400"/>
                  </a:cubicBezTo>
                  <a:cubicBezTo>
                    <a:pt x="1603502" y="3962400"/>
                    <a:pt x="0" y="3075432"/>
                    <a:pt x="0" y="19812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0" y="-1028700"/>
            <a:ext cx="4800600" cy="2857500"/>
            <a:chOff x="0" y="0"/>
            <a:chExt cx="64008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08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400800">
                  <a:moveTo>
                    <a:pt x="0" y="1905000"/>
                  </a:moveTo>
                  <a:cubicBezTo>
                    <a:pt x="0" y="852932"/>
                    <a:pt x="1432814" y="0"/>
                    <a:pt x="3200400" y="0"/>
                  </a:cubicBezTo>
                  <a:cubicBezTo>
                    <a:pt x="4967986" y="0"/>
                    <a:pt x="6400800" y="852932"/>
                    <a:pt x="6400800" y="1905000"/>
                  </a:cubicBezTo>
                  <a:cubicBezTo>
                    <a:pt x="6400800" y="2957068"/>
                    <a:pt x="4967986" y="3810000"/>
                    <a:pt x="3200400" y="3810000"/>
                  </a:cubicBezTo>
                  <a:cubicBezTo>
                    <a:pt x="1432814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87500" y="7886700"/>
            <a:ext cx="5029200" cy="3200400"/>
            <a:chOff x="0" y="0"/>
            <a:chExt cx="6705600" cy="426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5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6705600">
                  <a:moveTo>
                    <a:pt x="0" y="2133600"/>
                  </a:moveTo>
                  <a:cubicBezTo>
                    <a:pt x="0" y="955294"/>
                    <a:pt x="1501140" y="0"/>
                    <a:pt x="3352800" y="0"/>
                  </a:cubicBezTo>
                  <a:cubicBezTo>
                    <a:pt x="5204460" y="0"/>
                    <a:pt x="6705600" y="955294"/>
                    <a:pt x="6705600" y="2133600"/>
                  </a:cubicBezTo>
                  <a:cubicBezTo>
                    <a:pt x="6705600" y="3311906"/>
                    <a:pt x="5204460" y="4267200"/>
                    <a:pt x="3352800" y="4267200"/>
                  </a:cubicBezTo>
                  <a:cubicBezTo>
                    <a:pt x="1501140" y="4267200"/>
                    <a:pt x="0" y="3311906"/>
                    <a:pt x="0" y="2133600"/>
                  </a:cubicBezTo>
                  <a:close/>
                </a:path>
              </a:pathLst>
            </a:custGeom>
            <a:solidFill>
              <a:srgbClr val="DAED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316450" y="0"/>
            <a:ext cx="205740" cy="1543050"/>
            <a:chOff x="0" y="0"/>
            <a:chExt cx="274320" cy="205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320" cy="2057400"/>
            </a:xfrm>
            <a:custGeom>
              <a:avLst/>
              <a:gdLst/>
              <a:ahLst/>
              <a:cxnLst/>
              <a:rect r="r" b="b" t="t" l="l"/>
              <a:pathLst>
                <a:path h="2057400" w="27432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228600" y="0"/>
                  </a:lnTo>
                  <a:cubicBezTo>
                    <a:pt x="253873" y="0"/>
                    <a:pt x="274320" y="20447"/>
                    <a:pt x="274320" y="45720"/>
                  </a:cubicBezTo>
                  <a:lnTo>
                    <a:pt x="274320" y="2011680"/>
                  </a:lnTo>
                  <a:cubicBezTo>
                    <a:pt x="274320" y="2036953"/>
                    <a:pt x="253873" y="2057400"/>
                    <a:pt x="228600" y="2057400"/>
                  </a:cubicBezTo>
                  <a:lnTo>
                    <a:pt x="45720" y="2057400"/>
                  </a:lnTo>
                  <a:cubicBezTo>
                    <a:pt x="20447" y="2057400"/>
                    <a:pt x="0" y="2036953"/>
                    <a:pt x="0" y="201168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8972550"/>
            <a:ext cx="2514600" cy="205740"/>
            <a:chOff x="0" y="0"/>
            <a:chExt cx="335280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52800" cy="274320"/>
            </a:xfrm>
            <a:custGeom>
              <a:avLst/>
              <a:gdLst/>
              <a:ahLst/>
              <a:cxnLst/>
              <a:rect r="r" b="b" t="t" l="l"/>
              <a:pathLst>
                <a:path h="274320" w="335280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3307080" y="0"/>
                  </a:lnTo>
                  <a:cubicBezTo>
                    <a:pt x="3332353" y="0"/>
                    <a:pt x="3352800" y="20447"/>
                    <a:pt x="3352800" y="45720"/>
                  </a:cubicBezTo>
                  <a:lnTo>
                    <a:pt x="3352800" y="228600"/>
                  </a:lnTo>
                  <a:cubicBezTo>
                    <a:pt x="3352800" y="253873"/>
                    <a:pt x="3332353" y="274320"/>
                    <a:pt x="3307080" y="274320"/>
                  </a:cubicBezTo>
                  <a:lnTo>
                    <a:pt x="45720" y="274320"/>
                  </a:lnTo>
                  <a:cubicBezTo>
                    <a:pt x="20447" y="274320"/>
                    <a:pt x="0" y="253873"/>
                    <a:pt x="0" y="22860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80060"/>
            <a:ext cx="13487400" cy="685800"/>
            <a:chOff x="0" y="0"/>
            <a:chExt cx="179832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8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983200">
                  <a:moveTo>
                    <a:pt x="0" y="0"/>
                  </a:moveTo>
                  <a:lnTo>
                    <a:pt x="17983200" y="0"/>
                  </a:lnTo>
                  <a:lnTo>
                    <a:pt x="1798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7983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50"/>
                </a:lnSpc>
              </a:pPr>
              <a:r>
                <a:rPr lang="en-US" sz="387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Nano3D: Balanced Compact 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1314450"/>
            <a:ext cx="4572000" cy="40005"/>
            <a:chOff x="0" y="0"/>
            <a:chExt cx="6096000" cy="533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53340"/>
            </a:xfrm>
            <a:custGeom>
              <a:avLst/>
              <a:gdLst/>
              <a:ahLst/>
              <a:cxnLst/>
              <a:rect r="r" b="b" t="t" l="l"/>
              <a:pathLst>
                <a:path h="533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91540" y="1463040"/>
            <a:ext cx="14287500" cy="400050"/>
            <a:chOff x="0" y="0"/>
            <a:chExt cx="19050000" cy="533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894" r="0" b="-6458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0500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5"/>
                </a:lnSpc>
              </a:pPr>
              <a:r>
                <a:rPr lang="en-US" sz="1937" i="true">
                  <a:solidFill>
                    <a:srgbClr val="626B70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Compact multi-scale spatiotemporal model for binary anomaly detection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619625" y="2219325"/>
            <a:ext cx="6248400" cy="647700"/>
            <a:chOff x="0" y="0"/>
            <a:chExt cx="8331200" cy="863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31200" cy="863600"/>
            </a:xfrm>
            <a:custGeom>
              <a:avLst/>
              <a:gdLst/>
              <a:ahLst/>
              <a:cxnLst/>
              <a:rect r="r" b="b" t="t" l="l"/>
              <a:pathLst>
                <a:path h="863600" w="8331200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8187309" y="0"/>
                  </a:lnTo>
                  <a:cubicBezTo>
                    <a:pt x="8266811" y="0"/>
                    <a:pt x="8331200" y="64389"/>
                    <a:pt x="8331200" y="143891"/>
                  </a:cubicBezTo>
                  <a:lnTo>
                    <a:pt x="8331200" y="719709"/>
                  </a:lnTo>
                  <a:cubicBezTo>
                    <a:pt x="8331200" y="799211"/>
                    <a:pt x="8266811" y="863600"/>
                    <a:pt x="8187309" y="863600"/>
                  </a:cubicBezTo>
                  <a:lnTo>
                    <a:pt x="143891" y="863600"/>
                  </a:lnTo>
                  <a:cubicBezTo>
                    <a:pt x="64389" y="863600"/>
                    <a:pt x="0" y="799211"/>
                    <a:pt x="0" y="719709"/>
                  </a:cubicBezTo>
                  <a:close/>
                </a:path>
              </a:pathLst>
            </a:custGeom>
            <a:solidFill>
              <a:srgbClr val="F2F8F5"/>
            </a:solidFill>
            <a:ln w="19050" cap="sq">
              <a:solidFill>
                <a:srgbClr val="78968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720590" y="2263140"/>
            <a:ext cx="6046470" cy="560070"/>
            <a:chOff x="0" y="0"/>
            <a:chExt cx="8061960" cy="746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61960" cy="746760"/>
            </a:xfrm>
            <a:custGeom>
              <a:avLst/>
              <a:gdLst/>
              <a:ahLst/>
              <a:cxnLst/>
              <a:rect r="r" b="b" t="t" l="l"/>
              <a:pathLst>
                <a:path h="746760" w="8061960">
                  <a:moveTo>
                    <a:pt x="0" y="0"/>
                  </a:moveTo>
                  <a:lnTo>
                    <a:pt x="8061960" y="0"/>
                  </a:lnTo>
                  <a:lnTo>
                    <a:pt x="806196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358" r="0" b="-16035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061960" cy="756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0"/>
                </a:lnSpc>
              </a:pPr>
              <a:r>
                <a:rPr lang="en-US" sz="212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16-frame RGB Video Clip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5099220">
            <a:off x="7580319" y="3019425"/>
            <a:ext cx="327003" cy="0"/>
          </a:xfrm>
          <a:prstGeom prst="line">
            <a:avLst/>
          </a:prstGeom>
          <a:ln cap="rnd" w="19050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619625" y="3236595"/>
            <a:ext cx="6248400" cy="647700"/>
            <a:chOff x="0" y="0"/>
            <a:chExt cx="8331200" cy="863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31200" cy="863600"/>
            </a:xfrm>
            <a:custGeom>
              <a:avLst/>
              <a:gdLst/>
              <a:ahLst/>
              <a:cxnLst/>
              <a:rect r="r" b="b" t="t" l="l"/>
              <a:pathLst>
                <a:path h="863600" w="8331200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8187309" y="0"/>
                  </a:lnTo>
                  <a:cubicBezTo>
                    <a:pt x="8266811" y="0"/>
                    <a:pt x="8331200" y="64389"/>
                    <a:pt x="8331200" y="143891"/>
                  </a:cubicBezTo>
                  <a:lnTo>
                    <a:pt x="8331200" y="719709"/>
                  </a:lnTo>
                  <a:cubicBezTo>
                    <a:pt x="8331200" y="799211"/>
                    <a:pt x="8266811" y="863600"/>
                    <a:pt x="8187309" y="863600"/>
                  </a:cubicBezTo>
                  <a:lnTo>
                    <a:pt x="143891" y="863600"/>
                  </a:lnTo>
                  <a:cubicBezTo>
                    <a:pt x="64389" y="863600"/>
                    <a:pt x="0" y="799211"/>
                    <a:pt x="0" y="719709"/>
                  </a:cubicBezTo>
                  <a:close/>
                </a:path>
              </a:pathLst>
            </a:custGeom>
            <a:solidFill>
              <a:srgbClr val="E8F6E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720590" y="3280410"/>
            <a:ext cx="6046470" cy="560070"/>
            <a:chOff x="0" y="0"/>
            <a:chExt cx="8061960" cy="746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61960" cy="746760"/>
            </a:xfrm>
            <a:custGeom>
              <a:avLst/>
              <a:gdLst/>
              <a:ahLst/>
              <a:cxnLst/>
              <a:rect r="r" b="b" t="t" l="l"/>
              <a:pathLst>
                <a:path h="746760" w="8061960">
                  <a:moveTo>
                    <a:pt x="0" y="0"/>
                  </a:moveTo>
                  <a:lnTo>
                    <a:pt x="8061960" y="0"/>
                  </a:lnTo>
                  <a:lnTo>
                    <a:pt x="806196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358" r="0" b="-1603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8061960" cy="756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0"/>
                </a:lnSpc>
              </a:pPr>
              <a:r>
                <a:rPr lang="en-US" sz="2125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Factorized 3D Convolution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5099220">
            <a:off x="7580319" y="4036695"/>
            <a:ext cx="327003" cy="0"/>
          </a:xfrm>
          <a:prstGeom prst="line">
            <a:avLst/>
          </a:prstGeom>
          <a:ln cap="rnd" w="19050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4619625" y="4253865"/>
            <a:ext cx="6248400" cy="647700"/>
            <a:chOff x="0" y="0"/>
            <a:chExt cx="8331200" cy="863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31200" cy="863600"/>
            </a:xfrm>
            <a:custGeom>
              <a:avLst/>
              <a:gdLst/>
              <a:ahLst/>
              <a:cxnLst/>
              <a:rect r="r" b="b" t="t" l="l"/>
              <a:pathLst>
                <a:path h="863600" w="8331200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8187309" y="0"/>
                  </a:lnTo>
                  <a:cubicBezTo>
                    <a:pt x="8266811" y="0"/>
                    <a:pt x="8331200" y="64389"/>
                    <a:pt x="8331200" y="143891"/>
                  </a:cubicBezTo>
                  <a:lnTo>
                    <a:pt x="8331200" y="719709"/>
                  </a:lnTo>
                  <a:cubicBezTo>
                    <a:pt x="8331200" y="799211"/>
                    <a:pt x="8266811" y="863600"/>
                    <a:pt x="8187309" y="863600"/>
                  </a:cubicBezTo>
                  <a:lnTo>
                    <a:pt x="143891" y="863600"/>
                  </a:lnTo>
                  <a:cubicBezTo>
                    <a:pt x="64389" y="863600"/>
                    <a:pt x="0" y="799211"/>
                    <a:pt x="0" y="719709"/>
                  </a:cubicBezTo>
                  <a:close/>
                </a:path>
              </a:pathLst>
            </a:custGeom>
            <a:solidFill>
              <a:srgbClr val="FAF6EB"/>
            </a:solidFill>
            <a:ln w="19050" cap="sq">
              <a:solidFill>
                <a:srgbClr val="78968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720590" y="4297680"/>
            <a:ext cx="6046470" cy="560070"/>
            <a:chOff x="0" y="0"/>
            <a:chExt cx="8061960" cy="7467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61960" cy="746760"/>
            </a:xfrm>
            <a:custGeom>
              <a:avLst/>
              <a:gdLst/>
              <a:ahLst/>
              <a:cxnLst/>
              <a:rect r="r" b="b" t="t" l="l"/>
              <a:pathLst>
                <a:path h="746760" w="8061960">
                  <a:moveTo>
                    <a:pt x="0" y="0"/>
                  </a:moveTo>
                  <a:lnTo>
                    <a:pt x="8061960" y="0"/>
                  </a:lnTo>
                  <a:lnTo>
                    <a:pt x="806196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358" r="0" b="-16035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8061960" cy="756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0"/>
                </a:lnSpc>
              </a:pPr>
              <a:r>
                <a:rPr lang="en-US" sz="212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Residual Connections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5099220">
            <a:off x="7580319" y="5053965"/>
            <a:ext cx="327003" cy="0"/>
          </a:xfrm>
          <a:prstGeom prst="line">
            <a:avLst/>
          </a:prstGeom>
          <a:ln cap="rnd" w="19050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4619625" y="5271135"/>
            <a:ext cx="6248400" cy="647700"/>
            <a:chOff x="0" y="0"/>
            <a:chExt cx="8331200" cy="863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331200" cy="863600"/>
            </a:xfrm>
            <a:custGeom>
              <a:avLst/>
              <a:gdLst/>
              <a:ahLst/>
              <a:cxnLst/>
              <a:rect r="r" b="b" t="t" l="l"/>
              <a:pathLst>
                <a:path h="863600" w="8331200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8187309" y="0"/>
                  </a:lnTo>
                  <a:cubicBezTo>
                    <a:pt x="8266811" y="0"/>
                    <a:pt x="8331200" y="64389"/>
                    <a:pt x="8331200" y="143891"/>
                  </a:cubicBezTo>
                  <a:lnTo>
                    <a:pt x="8331200" y="719709"/>
                  </a:lnTo>
                  <a:cubicBezTo>
                    <a:pt x="8331200" y="799211"/>
                    <a:pt x="8266811" y="863600"/>
                    <a:pt x="8187309" y="863600"/>
                  </a:cubicBezTo>
                  <a:lnTo>
                    <a:pt x="143891" y="863600"/>
                  </a:lnTo>
                  <a:cubicBezTo>
                    <a:pt x="64389" y="863600"/>
                    <a:pt x="0" y="799211"/>
                    <a:pt x="0" y="719709"/>
                  </a:cubicBezTo>
                  <a:close/>
                </a:path>
              </a:pathLst>
            </a:custGeom>
            <a:solidFill>
              <a:srgbClr val="F4EFFA"/>
            </a:solidFill>
            <a:ln w="19050" cap="sq">
              <a:solidFill>
                <a:srgbClr val="78968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720590" y="5314950"/>
            <a:ext cx="6046470" cy="560070"/>
            <a:chOff x="0" y="0"/>
            <a:chExt cx="8061960" cy="746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61960" cy="746760"/>
            </a:xfrm>
            <a:custGeom>
              <a:avLst/>
              <a:gdLst/>
              <a:ahLst/>
              <a:cxnLst/>
              <a:rect r="r" b="b" t="t" l="l"/>
              <a:pathLst>
                <a:path h="746760" w="8061960">
                  <a:moveTo>
                    <a:pt x="0" y="0"/>
                  </a:moveTo>
                  <a:lnTo>
                    <a:pt x="8061960" y="0"/>
                  </a:lnTo>
                  <a:lnTo>
                    <a:pt x="806196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358" r="0" b="-16035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06196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25"/>
                </a:lnSpc>
              </a:pPr>
              <a:r>
                <a:rPr lang="en-US" sz="1937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Squeeze-and-Excitation Attention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5099220">
            <a:off x="7580319" y="6071235"/>
            <a:ext cx="327003" cy="0"/>
          </a:xfrm>
          <a:prstGeom prst="line">
            <a:avLst/>
          </a:prstGeom>
          <a:ln cap="rnd" w="19050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4619625" y="6288405"/>
            <a:ext cx="6248400" cy="647700"/>
            <a:chOff x="0" y="0"/>
            <a:chExt cx="8331200" cy="863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331200" cy="863600"/>
            </a:xfrm>
            <a:custGeom>
              <a:avLst/>
              <a:gdLst/>
              <a:ahLst/>
              <a:cxnLst/>
              <a:rect r="r" b="b" t="t" l="l"/>
              <a:pathLst>
                <a:path h="863600" w="8331200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8187309" y="0"/>
                  </a:lnTo>
                  <a:cubicBezTo>
                    <a:pt x="8266811" y="0"/>
                    <a:pt x="8331200" y="64389"/>
                    <a:pt x="8331200" y="143891"/>
                  </a:cubicBezTo>
                  <a:lnTo>
                    <a:pt x="8331200" y="719709"/>
                  </a:lnTo>
                  <a:cubicBezTo>
                    <a:pt x="8331200" y="799211"/>
                    <a:pt x="8266811" y="863600"/>
                    <a:pt x="8187309" y="863600"/>
                  </a:cubicBezTo>
                  <a:lnTo>
                    <a:pt x="143891" y="863600"/>
                  </a:lnTo>
                  <a:cubicBezTo>
                    <a:pt x="64389" y="863600"/>
                    <a:pt x="0" y="799211"/>
                    <a:pt x="0" y="719709"/>
                  </a:cubicBezTo>
                  <a:close/>
                </a:path>
              </a:pathLst>
            </a:custGeom>
            <a:solidFill>
              <a:srgbClr val="E8F6E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720590" y="6332220"/>
            <a:ext cx="6046470" cy="560070"/>
            <a:chOff x="0" y="0"/>
            <a:chExt cx="8061960" cy="746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61960" cy="746760"/>
            </a:xfrm>
            <a:custGeom>
              <a:avLst/>
              <a:gdLst/>
              <a:ahLst/>
              <a:cxnLst/>
              <a:rect r="r" b="b" t="t" l="l"/>
              <a:pathLst>
                <a:path h="746760" w="8061960">
                  <a:moveTo>
                    <a:pt x="0" y="0"/>
                  </a:moveTo>
                  <a:lnTo>
                    <a:pt x="8061960" y="0"/>
                  </a:lnTo>
                  <a:lnTo>
                    <a:pt x="806196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358" r="0" b="-16035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8061960" cy="756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0"/>
                </a:lnSpc>
              </a:pPr>
              <a:r>
                <a:rPr lang="en-US" sz="2125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Multi-Scale Feature Fusion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5099220">
            <a:off x="7580319" y="7088505"/>
            <a:ext cx="327003" cy="0"/>
          </a:xfrm>
          <a:prstGeom prst="line">
            <a:avLst/>
          </a:prstGeom>
          <a:ln cap="rnd" w="19050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4619625" y="7305675"/>
            <a:ext cx="6248400" cy="647700"/>
            <a:chOff x="0" y="0"/>
            <a:chExt cx="8331200" cy="863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331200" cy="863600"/>
            </a:xfrm>
            <a:custGeom>
              <a:avLst/>
              <a:gdLst/>
              <a:ahLst/>
              <a:cxnLst/>
              <a:rect r="r" b="b" t="t" l="l"/>
              <a:pathLst>
                <a:path h="863600" w="8331200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8187309" y="0"/>
                  </a:lnTo>
                  <a:cubicBezTo>
                    <a:pt x="8266811" y="0"/>
                    <a:pt x="8331200" y="64389"/>
                    <a:pt x="8331200" y="143891"/>
                  </a:cubicBezTo>
                  <a:lnTo>
                    <a:pt x="8331200" y="719709"/>
                  </a:lnTo>
                  <a:cubicBezTo>
                    <a:pt x="8331200" y="799211"/>
                    <a:pt x="8266811" y="863600"/>
                    <a:pt x="8187309" y="863600"/>
                  </a:cubicBezTo>
                  <a:lnTo>
                    <a:pt x="143891" y="863600"/>
                  </a:lnTo>
                  <a:cubicBezTo>
                    <a:pt x="64389" y="863600"/>
                    <a:pt x="0" y="799211"/>
                    <a:pt x="0" y="719709"/>
                  </a:cubicBezTo>
                  <a:close/>
                </a:path>
              </a:pathLst>
            </a:custGeom>
            <a:solidFill>
              <a:srgbClr val="F6F6F6"/>
            </a:solidFill>
            <a:ln w="19050" cap="sq">
              <a:solidFill>
                <a:srgbClr val="78968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4720590" y="7349490"/>
            <a:ext cx="6046470" cy="560070"/>
            <a:chOff x="0" y="0"/>
            <a:chExt cx="8061960" cy="746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61960" cy="746760"/>
            </a:xfrm>
            <a:custGeom>
              <a:avLst/>
              <a:gdLst/>
              <a:ahLst/>
              <a:cxnLst/>
              <a:rect r="r" b="b" t="t" l="l"/>
              <a:pathLst>
                <a:path h="746760" w="8061960">
                  <a:moveTo>
                    <a:pt x="0" y="0"/>
                  </a:moveTo>
                  <a:lnTo>
                    <a:pt x="8061960" y="0"/>
                  </a:lnTo>
                  <a:lnTo>
                    <a:pt x="806196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358" r="0" b="-16035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8061960" cy="756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0"/>
                </a:lnSpc>
              </a:pPr>
              <a:r>
                <a:rPr lang="en-US" sz="212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Lightweight Classification Head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5099220">
            <a:off x="7580319" y="8105775"/>
            <a:ext cx="327003" cy="0"/>
          </a:xfrm>
          <a:prstGeom prst="line">
            <a:avLst/>
          </a:prstGeom>
          <a:ln cap="rnd" w="19050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4619625" y="8322945"/>
            <a:ext cx="6248400" cy="647700"/>
            <a:chOff x="0" y="0"/>
            <a:chExt cx="8331200" cy="863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31200" cy="863600"/>
            </a:xfrm>
            <a:custGeom>
              <a:avLst/>
              <a:gdLst/>
              <a:ahLst/>
              <a:cxnLst/>
              <a:rect r="r" b="b" t="t" l="l"/>
              <a:pathLst>
                <a:path h="863600" w="8331200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8187309" y="0"/>
                  </a:lnTo>
                  <a:cubicBezTo>
                    <a:pt x="8266811" y="0"/>
                    <a:pt x="8331200" y="64389"/>
                    <a:pt x="8331200" y="143891"/>
                  </a:cubicBezTo>
                  <a:lnTo>
                    <a:pt x="8331200" y="719709"/>
                  </a:lnTo>
                  <a:cubicBezTo>
                    <a:pt x="8331200" y="799211"/>
                    <a:pt x="8266811" y="863600"/>
                    <a:pt x="8187309" y="863600"/>
                  </a:cubicBezTo>
                  <a:lnTo>
                    <a:pt x="143891" y="863600"/>
                  </a:lnTo>
                  <a:cubicBezTo>
                    <a:pt x="64389" y="863600"/>
                    <a:pt x="0" y="799211"/>
                    <a:pt x="0" y="719709"/>
                  </a:cubicBezTo>
                  <a:close/>
                </a:path>
              </a:pathLst>
            </a:custGeom>
            <a:solidFill>
              <a:srgbClr val="EFFAF5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4720590" y="8366760"/>
            <a:ext cx="6046470" cy="560070"/>
            <a:chOff x="0" y="0"/>
            <a:chExt cx="8061960" cy="7467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61960" cy="746760"/>
            </a:xfrm>
            <a:custGeom>
              <a:avLst/>
              <a:gdLst/>
              <a:ahLst/>
              <a:cxnLst/>
              <a:rect r="r" b="b" t="t" l="l"/>
              <a:pathLst>
                <a:path h="746760" w="8061960">
                  <a:moveTo>
                    <a:pt x="0" y="0"/>
                  </a:moveTo>
                  <a:lnTo>
                    <a:pt x="8061960" y="0"/>
                  </a:lnTo>
                  <a:lnTo>
                    <a:pt x="806196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358" r="0" b="-16035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8061960" cy="756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0"/>
                </a:lnSpc>
              </a:pPr>
              <a:r>
                <a:rPr lang="en-US" sz="2125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Normal or Anomalous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477625" y="2676525"/>
            <a:ext cx="5562600" cy="1985010"/>
            <a:chOff x="0" y="0"/>
            <a:chExt cx="7416800" cy="26466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16800" cy="2646680"/>
            </a:xfrm>
            <a:custGeom>
              <a:avLst/>
              <a:gdLst/>
              <a:ahLst/>
              <a:cxnLst/>
              <a:rect r="r" b="b" t="t" l="l"/>
              <a:pathLst>
                <a:path h="2646680" w="7416800">
                  <a:moveTo>
                    <a:pt x="0" y="441071"/>
                  </a:moveTo>
                  <a:cubicBezTo>
                    <a:pt x="0" y="197485"/>
                    <a:pt x="197485" y="0"/>
                    <a:pt x="441071" y="0"/>
                  </a:cubicBezTo>
                  <a:lnTo>
                    <a:pt x="6975729" y="0"/>
                  </a:lnTo>
                  <a:cubicBezTo>
                    <a:pt x="7219315" y="0"/>
                    <a:pt x="7416800" y="197485"/>
                    <a:pt x="7416800" y="441071"/>
                  </a:cubicBezTo>
                  <a:lnTo>
                    <a:pt x="7416800" y="2205609"/>
                  </a:lnTo>
                  <a:cubicBezTo>
                    <a:pt x="7416800" y="2449195"/>
                    <a:pt x="7219315" y="2646680"/>
                    <a:pt x="6975729" y="2646680"/>
                  </a:cubicBezTo>
                  <a:lnTo>
                    <a:pt x="441071" y="2646680"/>
                  </a:lnTo>
                  <a:cubicBezTo>
                    <a:pt x="197485" y="2646680"/>
                    <a:pt x="0" y="2449195"/>
                    <a:pt x="0" y="2205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1715750" y="2857500"/>
            <a:ext cx="5086350" cy="365760"/>
            <a:chOff x="0" y="0"/>
            <a:chExt cx="678180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818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63" r="0" b="-22096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781800" cy="487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Factorized 3D Convolution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1875770" y="3355848"/>
            <a:ext cx="4823460" cy="116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Spatial convolution learns visual patterns inside frames</a:t>
            </a:r>
          </a:p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Temporal convolution learns motion patterns across frames</a:t>
            </a:r>
          </a:p>
        </p:txBody>
      </p:sp>
      <p:sp>
        <p:nvSpPr>
          <p:cNvPr name="AutoShape 69" id="69"/>
          <p:cNvSpPr/>
          <p:nvPr/>
        </p:nvSpPr>
        <p:spPr>
          <a:xfrm rot="101100">
            <a:off x="10848832" y="3538538"/>
            <a:ext cx="647976" cy="0"/>
          </a:xfrm>
          <a:prstGeom prst="line">
            <a:avLst/>
          </a:prstGeom>
          <a:ln cap="rnd" w="9525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11477625" y="5819775"/>
            <a:ext cx="5562600" cy="1985010"/>
            <a:chOff x="0" y="0"/>
            <a:chExt cx="7416800" cy="2646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416800" cy="2646680"/>
            </a:xfrm>
            <a:custGeom>
              <a:avLst/>
              <a:gdLst/>
              <a:ahLst/>
              <a:cxnLst/>
              <a:rect r="r" b="b" t="t" l="l"/>
              <a:pathLst>
                <a:path h="2646680" w="7416800">
                  <a:moveTo>
                    <a:pt x="0" y="441071"/>
                  </a:moveTo>
                  <a:cubicBezTo>
                    <a:pt x="0" y="197485"/>
                    <a:pt x="197485" y="0"/>
                    <a:pt x="441071" y="0"/>
                  </a:cubicBezTo>
                  <a:lnTo>
                    <a:pt x="6975729" y="0"/>
                  </a:lnTo>
                  <a:cubicBezTo>
                    <a:pt x="7219315" y="0"/>
                    <a:pt x="7416800" y="197485"/>
                    <a:pt x="7416800" y="441071"/>
                  </a:cubicBezTo>
                  <a:lnTo>
                    <a:pt x="7416800" y="2205609"/>
                  </a:lnTo>
                  <a:cubicBezTo>
                    <a:pt x="7416800" y="2449195"/>
                    <a:pt x="7219315" y="2646680"/>
                    <a:pt x="6975729" y="2646680"/>
                  </a:cubicBezTo>
                  <a:lnTo>
                    <a:pt x="441071" y="2646680"/>
                  </a:lnTo>
                  <a:cubicBezTo>
                    <a:pt x="197485" y="2646680"/>
                    <a:pt x="0" y="2449195"/>
                    <a:pt x="0" y="2205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715750" y="6000750"/>
            <a:ext cx="5086350" cy="365760"/>
            <a:chOff x="0" y="0"/>
            <a:chExt cx="6781800" cy="487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7818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963" r="0" b="-22096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6781800" cy="487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Multi-Scale Feature Fusion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875770" y="6499098"/>
            <a:ext cx="4823460" cy="116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Earlier stages capture small motion details</a:t>
            </a:r>
          </a:p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Deeper stages capture higher-level anomaly patterns</a:t>
            </a:r>
          </a:p>
        </p:txBody>
      </p:sp>
      <p:sp>
        <p:nvSpPr>
          <p:cNvPr name="AutoShape 76" id="76"/>
          <p:cNvSpPr/>
          <p:nvPr/>
        </p:nvSpPr>
        <p:spPr>
          <a:xfrm rot="101100">
            <a:off x="10848832" y="6681788"/>
            <a:ext cx="647976" cy="0"/>
          </a:xfrm>
          <a:prstGeom prst="line">
            <a:avLst/>
          </a:prstGeom>
          <a:ln cap="rnd" w="9525">
            <a:solidFill>
              <a:srgbClr val="1F6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257300" y="2286000"/>
            <a:ext cx="2400300" cy="400050"/>
            <a:chOff x="0" y="0"/>
            <a:chExt cx="3200400" cy="533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00400" cy="533400"/>
            </a:xfrm>
            <a:custGeom>
              <a:avLst/>
              <a:gdLst/>
              <a:ahLst/>
              <a:cxnLst/>
              <a:rect r="r" b="b" t="t" l="l"/>
              <a:pathLst>
                <a:path h="533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3200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9"/>
                </a:lnSpc>
              </a:pPr>
              <a:r>
                <a:rPr lang="en-US" sz="1874" b="true">
                  <a:solidFill>
                    <a:srgbClr val="626B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 flow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47775" y="2905125"/>
            <a:ext cx="2019300" cy="419100"/>
            <a:chOff x="0" y="0"/>
            <a:chExt cx="2692400" cy="55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92400" cy="558800"/>
            </a:xfrm>
            <a:custGeom>
              <a:avLst/>
              <a:gdLst/>
              <a:ahLst/>
              <a:cxnLst/>
              <a:rect r="r" b="b" t="t" l="l"/>
              <a:pathLst>
                <a:path h="558800" w="26924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599309" y="0"/>
                  </a:lnTo>
                  <a:cubicBezTo>
                    <a:pt x="2650744" y="0"/>
                    <a:pt x="2692400" y="41656"/>
                    <a:pt x="2692400" y="93091"/>
                  </a:cubicBezTo>
                  <a:lnTo>
                    <a:pt x="2692400" y="465709"/>
                  </a:lnTo>
                  <a:cubicBezTo>
                    <a:pt x="2692400" y="517144"/>
                    <a:pt x="2650744" y="558800"/>
                    <a:pt x="2599309" y="558800"/>
                  </a:cubicBezTo>
                  <a:lnTo>
                    <a:pt x="93091" y="558800"/>
                  </a:lnTo>
                  <a:cubicBezTo>
                    <a:pt x="41656" y="558800"/>
                    <a:pt x="0" y="517144"/>
                    <a:pt x="0" y="465709"/>
                  </a:cubicBezTo>
                  <a:close/>
                </a:path>
              </a:pathLst>
            </a:custGeom>
            <a:solidFill>
              <a:srgbClr val="DAEDE4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567815" y="3030855"/>
            <a:ext cx="2019300" cy="419100"/>
            <a:chOff x="0" y="0"/>
            <a:chExt cx="2692400" cy="558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92400" cy="558800"/>
            </a:xfrm>
            <a:custGeom>
              <a:avLst/>
              <a:gdLst/>
              <a:ahLst/>
              <a:cxnLst/>
              <a:rect r="r" b="b" t="t" l="l"/>
              <a:pathLst>
                <a:path h="558800" w="26924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599309" y="0"/>
                  </a:lnTo>
                  <a:cubicBezTo>
                    <a:pt x="2650744" y="0"/>
                    <a:pt x="2692400" y="41656"/>
                    <a:pt x="2692400" y="93091"/>
                  </a:cubicBezTo>
                  <a:lnTo>
                    <a:pt x="2692400" y="465709"/>
                  </a:lnTo>
                  <a:cubicBezTo>
                    <a:pt x="2692400" y="517144"/>
                    <a:pt x="2650744" y="558800"/>
                    <a:pt x="2599309" y="558800"/>
                  </a:cubicBezTo>
                  <a:lnTo>
                    <a:pt x="93091" y="558800"/>
                  </a:lnTo>
                  <a:cubicBezTo>
                    <a:pt x="41656" y="558800"/>
                    <a:pt x="0" y="517144"/>
                    <a:pt x="0" y="465709"/>
                  </a:cubicBezTo>
                  <a:close/>
                </a:path>
              </a:pathLst>
            </a:custGeom>
            <a:solidFill>
              <a:srgbClr val="DAEDE4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887855" y="3156585"/>
            <a:ext cx="2019300" cy="419100"/>
            <a:chOff x="0" y="0"/>
            <a:chExt cx="2692400" cy="558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692400" cy="558800"/>
            </a:xfrm>
            <a:custGeom>
              <a:avLst/>
              <a:gdLst/>
              <a:ahLst/>
              <a:cxnLst/>
              <a:rect r="r" b="b" t="t" l="l"/>
              <a:pathLst>
                <a:path h="558800" w="26924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599309" y="0"/>
                  </a:lnTo>
                  <a:cubicBezTo>
                    <a:pt x="2650744" y="0"/>
                    <a:pt x="2692400" y="41656"/>
                    <a:pt x="2692400" y="93091"/>
                  </a:cubicBezTo>
                  <a:lnTo>
                    <a:pt x="2692400" y="465709"/>
                  </a:lnTo>
                  <a:cubicBezTo>
                    <a:pt x="2692400" y="517144"/>
                    <a:pt x="2650744" y="558800"/>
                    <a:pt x="2599309" y="558800"/>
                  </a:cubicBezTo>
                  <a:lnTo>
                    <a:pt x="93091" y="558800"/>
                  </a:lnTo>
                  <a:cubicBezTo>
                    <a:pt x="41656" y="558800"/>
                    <a:pt x="0" y="517144"/>
                    <a:pt x="0" y="465709"/>
                  </a:cubicBezTo>
                  <a:close/>
                </a:path>
              </a:pathLst>
            </a:custGeom>
            <a:solidFill>
              <a:srgbClr val="DAEDE4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2207895" y="3282315"/>
            <a:ext cx="2019300" cy="419100"/>
            <a:chOff x="0" y="0"/>
            <a:chExt cx="2692400" cy="558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92400" cy="558800"/>
            </a:xfrm>
            <a:custGeom>
              <a:avLst/>
              <a:gdLst/>
              <a:ahLst/>
              <a:cxnLst/>
              <a:rect r="r" b="b" t="t" l="l"/>
              <a:pathLst>
                <a:path h="558800" w="26924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599309" y="0"/>
                  </a:lnTo>
                  <a:cubicBezTo>
                    <a:pt x="2650744" y="0"/>
                    <a:pt x="2692400" y="41656"/>
                    <a:pt x="2692400" y="93091"/>
                  </a:cubicBezTo>
                  <a:lnTo>
                    <a:pt x="2692400" y="465709"/>
                  </a:lnTo>
                  <a:cubicBezTo>
                    <a:pt x="2692400" y="517144"/>
                    <a:pt x="2650744" y="558800"/>
                    <a:pt x="2599309" y="558800"/>
                  </a:cubicBezTo>
                  <a:lnTo>
                    <a:pt x="93091" y="558800"/>
                  </a:lnTo>
                  <a:cubicBezTo>
                    <a:pt x="41656" y="558800"/>
                    <a:pt x="0" y="517144"/>
                    <a:pt x="0" y="465709"/>
                  </a:cubicBezTo>
                  <a:close/>
                </a:path>
              </a:pathLst>
            </a:custGeom>
            <a:solidFill>
              <a:srgbClr val="DAEDE4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2527935" y="3408045"/>
            <a:ext cx="2019300" cy="419100"/>
            <a:chOff x="0" y="0"/>
            <a:chExt cx="2692400" cy="558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692400" cy="558800"/>
            </a:xfrm>
            <a:custGeom>
              <a:avLst/>
              <a:gdLst/>
              <a:ahLst/>
              <a:cxnLst/>
              <a:rect r="r" b="b" t="t" l="l"/>
              <a:pathLst>
                <a:path h="558800" w="26924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599309" y="0"/>
                  </a:lnTo>
                  <a:cubicBezTo>
                    <a:pt x="2650744" y="0"/>
                    <a:pt x="2692400" y="41656"/>
                    <a:pt x="2692400" y="93091"/>
                  </a:cubicBezTo>
                  <a:lnTo>
                    <a:pt x="2692400" y="465709"/>
                  </a:lnTo>
                  <a:cubicBezTo>
                    <a:pt x="2692400" y="517144"/>
                    <a:pt x="2650744" y="558800"/>
                    <a:pt x="2599309" y="558800"/>
                  </a:cubicBezTo>
                  <a:lnTo>
                    <a:pt x="93091" y="558800"/>
                  </a:lnTo>
                  <a:cubicBezTo>
                    <a:pt x="41656" y="558800"/>
                    <a:pt x="0" y="517144"/>
                    <a:pt x="0" y="465709"/>
                  </a:cubicBezTo>
                  <a:close/>
                </a:path>
              </a:pathLst>
            </a:custGeom>
            <a:solidFill>
              <a:srgbClr val="DAEDE4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2847975" y="3533775"/>
            <a:ext cx="2019300" cy="419100"/>
            <a:chOff x="0" y="0"/>
            <a:chExt cx="2692400" cy="558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92400" cy="558800"/>
            </a:xfrm>
            <a:custGeom>
              <a:avLst/>
              <a:gdLst/>
              <a:ahLst/>
              <a:cxnLst/>
              <a:rect r="r" b="b" t="t" l="l"/>
              <a:pathLst>
                <a:path h="558800" w="2692400">
                  <a:moveTo>
                    <a:pt x="0" y="93091"/>
                  </a:moveTo>
                  <a:cubicBezTo>
                    <a:pt x="0" y="41656"/>
                    <a:pt x="41656" y="0"/>
                    <a:pt x="93091" y="0"/>
                  </a:cubicBezTo>
                  <a:lnTo>
                    <a:pt x="2599309" y="0"/>
                  </a:lnTo>
                  <a:cubicBezTo>
                    <a:pt x="2650744" y="0"/>
                    <a:pt x="2692400" y="41656"/>
                    <a:pt x="2692400" y="93091"/>
                  </a:cubicBezTo>
                  <a:lnTo>
                    <a:pt x="2692400" y="465709"/>
                  </a:lnTo>
                  <a:cubicBezTo>
                    <a:pt x="2692400" y="517144"/>
                    <a:pt x="2650744" y="558800"/>
                    <a:pt x="2599309" y="558800"/>
                  </a:cubicBezTo>
                  <a:lnTo>
                    <a:pt x="93091" y="558800"/>
                  </a:lnTo>
                  <a:cubicBezTo>
                    <a:pt x="41656" y="558800"/>
                    <a:pt x="0" y="517144"/>
                    <a:pt x="0" y="465709"/>
                  </a:cubicBezTo>
                  <a:close/>
                </a:path>
              </a:pathLst>
            </a:custGeom>
            <a:solidFill>
              <a:srgbClr val="DAEDE4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543050" y="4743450"/>
            <a:ext cx="2857500" cy="742950"/>
            <a:chOff x="0" y="0"/>
            <a:chExt cx="3810000" cy="990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810000" cy="990600"/>
            </a:xfrm>
            <a:custGeom>
              <a:avLst/>
              <a:gdLst/>
              <a:ahLst/>
              <a:cxnLst/>
              <a:rect r="r" b="b" t="t" l="l"/>
              <a:pathLst>
                <a:path h="9906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381000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spatial + temporal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features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00200" y="-1257300"/>
            <a:ext cx="3886200" cy="3429000"/>
            <a:chOff x="0" y="0"/>
            <a:chExt cx="5181600" cy="457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6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5181600">
                  <a:moveTo>
                    <a:pt x="0" y="2286000"/>
                  </a:moveTo>
                  <a:cubicBezTo>
                    <a:pt x="0" y="1023493"/>
                    <a:pt x="1159891" y="0"/>
                    <a:pt x="2590800" y="0"/>
                  </a:cubicBezTo>
                  <a:cubicBezTo>
                    <a:pt x="4021709" y="0"/>
                    <a:pt x="5181600" y="1023493"/>
                    <a:pt x="5181600" y="2286000"/>
                  </a:cubicBezTo>
                  <a:cubicBezTo>
                    <a:pt x="5181600" y="3548507"/>
                    <a:pt x="4021709" y="4572000"/>
                    <a:pt x="2590800" y="4572000"/>
                  </a:cubicBezTo>
                  <a:cubicBezTo>
                    <a:pt x="1159891" y="4572000"/>
                    <a:pt x="0" y="3548507"/>
                    <a:pt x="0" y="2286000"/>
                  </a:cubicBezTo>
                  <a:close/>
                </a:path>
              </a:pathLst>
            </a:custGeom>
            <a:solidFill>
              <a:srgbClr val="DAE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28700" y="8001000"/>
            <a:ext cx="5372100" cy="2971800"/>
            <a:chOff x="0" y="0"/>
            <a:chExt cx="7162800" cy="396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628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7162800">
                  <a:moveTo>
                    <a:pt x="0" y="1981200"/>
                  </a:moveTo>
                  <a:cubicBezTo>
                    <a:pt x="0" y="886968"/>
                    <a:pt x="1603502" y="0"/>
                    <a:pt x="3581400" y="0"/>
                  </a:cubicBezTo>
                  <a:cubicBezTo>
                    <a:pt x="5559298" y="0"/>
                    <a:pt x="7162800" y="886968"/>
                    <a:pt x="7162800" y="1981200"/>
                  </a:cubicBezTo>
                  <a:cubicBezTo>
                    <a:pt x="7162800" y="3075432"/>
                    <a:pt x="5559298" y="3962400"/>
                    <a:pt x="3581400" y="3962400"/>
                  </a:cubicBezTo>
                  <a:cubicBezTo>
                    <a:pt x="1603502" y="3962400"/>
                    <a:pt x="0" y="3075432"/>
                    <a:pt x="0" y="19812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0" y="-1028700"/>
            <a:ext cx="4800600" cy="2857500"/>
            <a:chOff x="0" y="0"/>
            <a:chExt cx="64008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08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400800">
                  <a:moveTo>
                    <a:pt x="0" y="1905000"/>
                  </a:moveTo>
                  <a:cubicBezTo>
                    <a:pt x="0" y="852932"/>
                    <a:pt x="1432814" y="0"/>
                    <a:pt x="3200400" y="0"/>
                  </a:cubicBezTo>
                  <a:cubicBezTo>
                    <a:pt x="4967986" y="0"/>
                    <a:pt x="6400800" y="852932"/>
                    <a:pt x="6400800" y="1905000"/>
                  </a:cubicBezTo>
                  <a:cubicBezTo>
                    <a:pt x="6400800" y="2957068"/>
                    <a:pt x="4967986" y="3810000"/>
                    <a:pt x="3200400" y="3810000"/>
                  </a:cubicBezTo>
                  <a:cubicBezTo>
                    <a:pt x="1432814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87500" y="7886700"/>
            <a:ext cx="5029200" cy="3200400"/>
            <a:chOff x="0" y="0"/>
            <a:chExt cx="6705600" cy="426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5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6705600">
                  <a:moveTo>
                    <a:pt x="0" y="2133600"/>
                  </a:moveTo>
                  <a:cubicBezTo>
                    <a:pt x="0" y="955294"/>
                    <a:pt x="1501140" y="0"/>
                    <a:pt x="3352800" y="0"/>
                  </a:cubicBezTo>
                  <a:cubicBezTo>
                    <a:pt x="5204460" y="0"/>
                    <a:pt x="6705600" y="955294"/>
                    <a:pt x="6705600" y="2133600"/>
                  </a:cubicBezTo>
                  <a:cubicBezTo>
                    <a:pt x="6705600" y="3311906"/>
                    <a:pt x="5204460" y="4267200"/>
                    <a:pt x="3352800" y="4267200"/>
                  </a:cubicBezTo>
                  <a:cubicBezTo>
                    <a:pt x="1501140" y="4267200"/>
                    <a:pt x="0" y="3311906"/>
                    <a:pt x="0" y="2133600"/>
                  </a:cubicBezTo>
                  <a:close/>
                </a:path>
              </a:pathLst>
            </a:custGeom>
            <a:solidFill>
              <a:srgbClr val="DAED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316450" y="0"/>
            <a:ext cx="205740" cy="1543050"/>
            <a:chOff x="0" y="0"/>
            <a:chExt cx="274320" cy="205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320" cy="2057400"/>
            </a:xfrm>
            <a:custGeom>
              <a:avLst/>
              <a:gdLst/>
              <a:ahLst/>
              <a:cxnLst/>
              <a:rect r="r" b="b" t="t" l="l"/>
              <a:pathLst>
                <a:path h="2057400" w="27432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228600" y="0"/>
                  </a:lnTo>
                  <a:cubicBezTo>
                    <a:pt x="253873" y="0"/>
                    <a:pt x="274320" y="20447"/>
                    <a:pt x="274320" y="45720"/>
                  </a:cubicBezTo>
                  <a:lnTo>
                    <a:pt x="274320" y="2011680"/>
                  </a:lnTo>
                  <a:cubicBezTo>
                    <a:pt x="274320" y="2036953"/>
                    <a:pt x="253873" y="2057400"/>
                    <a:pt x="228600" y="2057400"/>
                  </a:cubicBezTo>
                  <a:lnTo>
                    <a:pt x="45720" y="2057400"/>
                  </a:lnTo>
                  <a:cubicBezTo>
                    <a:pt x="20447" y="2057400"/>
                    <a:pt x="0" y="2036953"/>
                    <a:pt x="0" y="201168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8972550"/>
            <a:ext cx="2514600" cy="205740"/>
            <a:chOff x="0" y="0"/>
            <a:chExt cx="335280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52800" cy="274320"/>
            </a:xfrm>
            <a:custGeom>
              <a:avLst/>
              <a:gdLst/>
              <a:ahLst/>
              <a:cxnLst/>
              <a:rect r="r" b="b" t="t" l="l"/>
              <a:pathLst>
                <a:path h="274320" w="335280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3307080" y="0"/>
                  </a:lnTo>
                  <a:cubicBezTo>
                    <a:pt x="3332353" y="0"/>
                    <a:pt x="3352800" y="20447"/>
                    <a:pt x="3352800" y="45720"/>
                  </a:cubicBezTo>
                  <a:lnTo>
                    <a:pt x="3352800" y="228600"/>
                  </a:lnTo>
                  <a:cubicBezTo>
                    <a:pt x="3352800" y="253873"/>
                    <a:pt x="3332353" y="274320"/>
                    <a:pt x="3307080" y="274320"/>
                  </a:cubicBezTo>
                  <a:lnTo>
                    <a:pt x="45720" y="274320"/>
                  </a:lnTo>
                  <a:cubicBezTo>
                    <a:pt x="20447" y="274320"/>
                    <a:pt x="0" y="253873"/>
                    <a:pt x="0" y="22860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80060"/>
            <a:ext cx="13487400" cy="685800"/>
            <a:chOff x="0" y="0"/>
            <a:chExt cx="179832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8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983200">
                  <a:moveTo>
                    <a:pt x="0" y="0"/>
                  </a:moveTo>
                  <a:lnTo>
                    <a:pt x="17983200" y="0"/>
                  </a:lnTo>
                  <a:lnTo>
                    <a:pt x="1798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7983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50"/>
                </a:lnSpc>
              </a:pPr>
              <a:r>
                <a:rPr lang="en-US" sz="387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 Family Variants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1314450"/>
            <a:ext cx="4572000" cy="40005"/>
            <a:chOff x="0" y="0"/>
            <a:chExt cx="6096000" cy="533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53340"/>
            </a:xfrm>
            <a:custGeom>
              <a:avLst/>
              <a:gdLst/>
              <a:ahLst/>
              <a:cxnLst/>
              <a:rect r="r" b="b" t="t" l="l"/>
              <a:pathLst>
                <a:path h="533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9175" y="1990725"/>
            <a:ext cx="4991100" cy="5562600"/>
            <a:chOff x="0" y="0"/>
            <a:chExt cx="6654800" cy="7416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54800" cy="7416800"/>
            </a:xfrm>
            <a:custGeom>
              <a:avLst/>
              <a:gdLst/>
              <a:ahLst/>
              <a:cxnLst/>
              <a:rect r="r" b="b" t="t" l="l"/>
              <a:pathLst>
                <a:path h="7416800" w="6654800">
                  <a:moveTo>
                    <a:pt x="0" y="1109218"/>
                  </a:moveTo>
                  <a:cubicBezTo>
                    <a:pt x="0" y="496570"/>
                    <a:pt x="496570" y="0"/>
                    <a:pt x="1109218" y="0"/>
                  </a:cubicBezTo>
                  <a:lnTo>
                    <a:pt x="5545582" y="0"/>
                  </a:lnTo>
                  <a:cubicBezTo>
                    <a:pt x="6158230" y="0"/>
                    <a:pt x="6654800" y="496570"/>
                    <a:pt x="6654800" y="1109218"/>
                  </a:cubicBezTo>
                  <a:lnTo>
                    <a:pt x="6654800" y="6307582"/>
                  </a:lnTo>
                  <a:cubicBezTo>
                    <a:pt x="6654800" y="6920230"/>
                    <a:pt x="6158230" y="7416800"/>
                    <a:pt x="5545582" y="7416800"/>
                  </a:cubicBezTo>
                  <a:lnTo>
                    <a:pt x="1109218" y="7416800"/>
                  </a:lnTo>
                  <a:cubicBezTo>
                    <a:pt x="496570" y="7416800"/>
                    <a:pt x="0" y="6920230"/>
                    <a:pt x="0" y="63075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28700" y="2000250"/>
            <a:ext cx="4972050" cy="857250"/>
            <a:chOff x="0" y="0"/>
            <a:chExt cx="6629400" cy="114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29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66294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38900" y="0"/>
                  </a:lnTo>
                  <a:cubicBezTo>
                    <a:pt x="6544056" y="0"/>
                    <a:pt x="6629400" y="85344"/>
                    <a:pt x="6629400" y="190500"/>
                  </a:cubicBezTo>
                  <a:lnTo>
                    <a:pt x="6629400" y="952500"/>
                  </a:lnTo>
                  <a:cubicBezTo>
                    <a:pt x="6629400" y="1057656"/>
                    <a:pt x="6544056" y="1143000"/>
                    <a:pt x="643890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0150" y="2125980"/>
            <a:ext cx="4629150" cy="514350"/>
            <a:chOff x="0" y="0"/>
            <a:chExt cx="6172200" cy="685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72200" cy="685800"/>
            </a:xfrm>
            <a:custGeom>
              <a:avLst/>
              <a:gdLst/>
              <a:ahLst/>
              <a:cxnLst/>
              <a:rect r="r" b="b" t="t" l="l"/>
              <a:pathLst>
                <a:path h="685800" w="6172200">
                  <a:moveTo>
                    <a:pt x="0" y="0"/>
                  </a:moveTo>
                  <a:lnTo>
                    <a:pt x="6172200" y="0"/>
                  </a:lnTo>
                  <a:lnTo>
                    <a:pt x="61722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1722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49"/>
                </a:lnSpc>
              </a:pPr>
              <a:r>
                <a:rPr lang="en-US" sz="28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72114" y="2937824"/>
            <a:ext cx="1096642" cy="1096642"/>
            <a:chOff x="0" y="0"/>
            <a:chExt cx="1462189" cy="14621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279"/>
                    <a:pt x="327279" y="0"/>
                    <a:pt x="731139" y="0"/>
                  </a:cubicBezTo>
                  <a:cubicBezTo>
                    <a:pt x="1134999" y="0"/>
                    <a:pt x="1462278" y="327279"/>
                    <a:pt x="1462278" y="731139"/>
                  </a:cubicBezTo>
                  <a:cubicBezTo>
                    <a:pt x="1462278" y="1134999"/>
                    <a:pt x="1134999" y="1462278"/>
                    <a:pt x="731139" y="1462278"/>
                  </a:cubicBezTo>
                  <a:cubicBezTo>
                    <a:pt x="327279" y="1462278"/>
                    <a:pt x="0" y="1134872"/>
                    <a:pt x="0" y="731139"/>
                  </a:cubicBezTo>
                  <a:close/>
                </a:path>
              </a:pathLst>
            </a:custGeom>
            <a:solidFill>
              <a:srgbClr val="F8FCFA"/>
            </a:solidFill>
            <a:ln w="22225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234690" y="3143250"/>
            <a:ext cx="571500" cy="571500"/>
            <a:chOff x="0" y="0"/>
            <a:chExt cx="762000" cy="76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762000" cy="82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50"/>
                </a:lnSpc>
              </a:pPr>
              <a:r>
                <a:rPr lang="en-US" sz="3625" b="true">
                  <a:solidFill>
                    <a:srgbClr val="1F6F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⚖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28750" y="4057650"/>
            <a:ext cx="4171950" cy="457200"/>
            <a:chOff x="0" y="0"/>
            <a:chExt cx="5562600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62600" cy="609600"/>
            </a:xfrm>
            <a:custGeom>
              <a:avLst/>
              <a:gdLst/>
              <a:ahLst/>
              <a:cxnLst/>
              <a:rect r="r" b="b" t="t" l="l"/>
              <a:pathLst>
                <a:path h="6096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562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Balanced version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28750" y="4663440"/>
            <a:ext cx="342900" cy="285750"/>
            <a:chOff x="0" y="0"/>
            <a:chExt cx="457200" cy="38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572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1F6F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28800" y="4629150"/>
            <a:ext cx="3829050" cy="434340"/>
            <a:chOff x="0" y="0"/>
            <a:chExt cx="5105400" cy="579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05400" cy="579120"/>
            </a:xfrm>
            <a:custGeom>
              <a:avLst/>
              <a:gdLst/>
              <a:ahLst/>
              <a:cxnLst/>
              <a:rect r="r" b="b" t="t" l="l"/>
              <a:pathLst>
                <a:path h="5791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579120"/>
                  </a:lnTo>
                  <a:lnTo>
                    <a:pt x="0" y="57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775" r="0" b="-1217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105400" cy="58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5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Compact multi-scale spatiotemporal model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28750" y="5200650"/>
            <a:ext cx="342900" cy="285750"/>
            <a:chOff x="0" y="0"/>
            <a:chExt cx="457200" cy="381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4572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1F6F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828800" y="5166360"/>
            <a:ext cx="3829050" cy="434340"/>
            <a:chOff x="0" y="0"/>
            <a:chExt cx="5105400" cy="579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05400" cy="579120"/>
            </a:xfrm>
            <a:custGeom>
              <a:avLst/>
              <a:gdLst/>
              <a:ahLst/>
              <a:cxnLst/>
              <a:rect r="r" b="b" t="t" l="l"/>
              <a:pathLst>
                <a:path h="5791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579120"/>
                  </a:lnTo>
                  <a:lnTo>
                    <a:pt x="0" y="57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775" r="0" b="-12177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105400" cy="58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5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Best practical balance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448425" y="1990725"/>
            <a:ext cx="4991100" cy="5562600"/>
            <a:chOff x="0" y="0"/>
            <a:chExt cx="6654800" cy="7416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54800" cy="7416800"/>
            </a:xfrm>
            <a:custGeom>
              <a:avLst/>
              <a:gdLst/>
              <a:ahLst/>
              <a:cxnLst/>
              <a:rect r="r" b="b" t="t" l="l"/>
              <a:pathLst>
                <a:path h="7416800" w="6654800">
                  <a:moveTo>
                    <a:pt x="0" y="1109218"/>
                  </a:moveTo>
                  <a:cubicBezTo>
                    <a:pt x="0" y="496570"/>
                    <a:pt x="496570" y="0"/>
                    <a:pt x="1109218" y="0"/>
                  </a:cubicBezTo>
                  <a:lnTo>
                    <a:pt x="5545582" y="0"/>
                  </a:lnTo>
                  <a:cubicBezTo>
                    <a:pt x="6158230" y="0"/>
                    <a:pt x="6654800" y="496570"/>
                    <a:pt x="6654800" y="1109218"/>
                  </a:cubicBezTo>
                  <a:lnTo>
                    <a:pt x="6654800" y="6307582"/>
                  </a:lnTo>
                  <a:cubicBezTo>
                    <a:pt x="6654800" y="6920230"/>
                    <a:pt x="6158230" y="7416800"/>
                    <a:pt x="5545582" y="7416800"/>
                  </a:cubicBezTo>
                  <a:lnTo>
                    <a:pt x="1109218" y="7416800"/>
                  </a:lnTo>
                  <a:cubicBezTo>
                    <a:pt x="496570" y="7416800"/>
                    <a:pt x="0" y="6920230"/>
                    <a:pt x="0" y="63075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154B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457950" y="2000250"/>
            <a:ext cx="4972050" cy="857250"/>
            <a:chOff x="0" y="0"/>
            <a:chExt cx="6629400" cy="1143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29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66294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38900" y="0"/>
                  </a:lnTo>
                  <a:cubicBezTo>
                    <a:pt x="6544056" y="0"/>
                    <a:pt x="6629400" y="85344"/>
                    <a:pt x="6629400" y="190500"/>
                  </a:cubicBezTo>
                  <a:lnTo>
                    <a:pt x="6629400" y="952500"/>
                  </a:lnTo>
                  <a:cubicBezTo>
                    <a:pt x="6629400" y="1057656"/>
                    <a:pt x="6544056" y="1143000"/>
                    <a:pt x="643890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7154B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629400" y="2125980"/>
            <a:ext cx="4629150" cy="514350"/>
            <a:chOff x="0" y="0"/>
            <a:chExt cx="6172200" cy="685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172200" cy="685800"/>
            </a:xfrm>
            <a:custGeom>
              <a:avLst/>
              <a:gdLst/>
              <a:ahLst/>
              <a:cxnLst/>
              <a:rect r="r" b="b" t="t" l="l"/>
              <a:pathLst>
                <a:path h="685800" w="6172200">
                  <a:moveTo>
                    <a:pt x="0" y="0"/>
                  </a:moveTo>
                  <a:lnTo>
                    <a:pt x="6172200" y="0"/>
                  </a:lnTo>
                  <a:lnTo>
                    <a:pt x="61722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1722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49"/>
                </a:lnSpc>
              </a:pPr>
              <a:r>
                <a:rPr lang="en-US" sz="28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 Edge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401364" y="2937824"/>
            <a:ext cx="1096642" cy="1096642"/>
            <a:chOff x="0" y="0"/>
            <a:chExt cx="1462189" cy="14621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279"/>
                    <a:pt x="327279" y="0"/>
                    <a:pt x="731139" y="0"/>
                  </a:cubicBezTo>
                  <a:cubicBezTo>
                    <a:pt x="1134999" y="0"/>
                    <a:pt x="1462278" y="327279"/>
                    <a:pt x="1462278" y="731139"/>
                  </a:cubicBezTo>
                  <a:cubicBezTo>
                    <a:pt x="1462278" y="1134999"/>
                    <a:pt x="1134999" y="1462278"/>
                    <a:pt x="731139" y="1462278"/>
                  </a:cubicBezTo>
                  <a:cubicBezTo>
                    <a:pt x="327279" y="1462278"/>
                    <a:pt x="0" y="1134872"/>
                    <a:pt x="0" y="731139"/>
                  </a:cubicBezTo>
                  <a:close/>
                </a:path>
              </a:pathLst>
            </a:custGeom>
            <a:solidFill>
              <a:srgbClr val="F8FCFA"/>
            </a:solidFill>
            <a:ln w="22225" cap="sq">
              <a:solidFill>
                <a:srgbClr val="7154B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663940" y="3143250"/>
            <a:ext cx="571500" cy="571500"/>
            <a:chOff x="0" y="0"/>
            <a:chExt cx="762000" cy="762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762000" cy="82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50"/>
                </a:lnSpc>
              </a:pPr>
              <a:r>
                <a:rPr lang="en-US" sz="3625" b="true">
                  <a:solidFill>
                    <a:srgbClr val="7154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◡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58000" y="4057650"/>
            <a:ext cx="4171950" cy="457200"/>
            <a:chOff x="0" y="0"/>
            <a:chExt cx="5562600" cy="609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562600" cy="609600"/>
            </a:xfrm>
            <a:custGeom>
              <a:avLst/>
              <a:gdLst/>
              <a:ahLst/>
              <a:cxnLst/>
              <a:rect r="r" b="b" t="t" l="l"/>
              <a:pathLst>
                <a:path h="6096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5562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Ultra-lightweight version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814185" y="4653915"/>
            <a:ext cx="2019300" cy="853440"/>
            <a:chOff x="0" y="0"/>
            <a:chExt cx="2692400" cy="1137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692400" cy="1137920"/>
            </a:xfrm>
            <a:custGeom>
              <a:avLst/>
              <a:gdLst/>
              <a:ahLst/>
              <a:cxnLst/>
              <a:rect r="r" b="b" t="t" l="l"/>
              <a:pathLst>
                <a:path h="1137920" w="2692400">
                  <a:moveTo>
                    <a:pt x="0" y="189611"/>
                  </a:moveTo>
                  <a:cubicBezTo>
                    <a:pt x="0" y="84963"/>
                    <a:pt x="84963" y="0"/>
                    <a:pt x="189611" y="0"/>
                  </a:cubicBezTo>
                  <a:lnTo>
                    <a:pt x="2502789" y="0"/>
                  </a:lnTo>
                  <a:cubicBezTo>
                    <a:pt x="2607437" y="0"/>
                    <a:pt x="2692400" y="84963"/>
                    <a:pt x="2692400" y="189611"/>
                  </a:cubicBezTo>
                  <a:lnTo>
                    <a:pt x="2692400" y="948309"/>
                  </a:lnTo>
                  <a:cubicBezTo>
                    <a:pt x="2692400" y="1053084"/>
                    <a:pt x="2607437" y="1137920"/>
                    <a:pt x="2502789" y="1137920"/>
                  </a:cubicBezTo>
                  <a:lnTo>
                    <a:pt x="189611" y="1137920"/>
                  </a:lnTo>
                  <a:cubicBezTo>
                    <a:pt x="84963" y="1137920"/>
                    <a:pt x="0" y="1052957"/>
                    <a:pt x="0" y="948309"/>
                  </a:cubicBezTo>
                  <a:close/>
                </a:path>
              </a:pathLst>
            </a:custGeom>
            <a:solidFill>
              <a:srgbClr val="F9F7FD"/>
            </a:solidFill>
            <a:ln w="19050" cap="sq">
              <a:solidFill>
                <a:srgbClr val="7154B5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6915150" y="4697730"/>
            <a:ext cx="1817370" cy="765810"/>
            <a:chOff x="0" y="0"/>
            <a:chExt cx="2423160" cy="10210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23160" cy="1021078"/>
            </a:xfrm>
            <a:custGeom>
              <a:avLst/>
              <a:gdLst/>
              <a:ahLst/>
              <a:cxnLst/>
              <a:rect r="r" b="b" t="t" l="l"/>
              <a:pathLst>
                <a:path h="1021078" w="2423160">
                  <a:moveTo>
                    <a:pt x="0" y="0"/>
                  </a:moveTo>
                  <a:lnTo>
                    <a:pt x="2423160" y="0"/>
                  </a:lnTo>
                  <a:lnTo>
                    <a:pt x="2423160" y="1021078"/>
                  </a:lnTo>
                  <a:lnTo>
                    <a:pt x="0" y="10210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65" t="0" r="-4065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2423160" cy="1030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750" b="true">
                  <a:solidFill>
                    <a:srgbClr val="7154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16 thousand</a:t>
              </a:r>
            </a:p>
            <a:p>
              <a:pPr algn="ctr">
                <a:lnSpc>
                  <a:spcPts val="2100"/>
                </a:lnSpc>
              </a:pPr>
              <a:r>
                <a:rPr lang="en-US" sz="1750" b="true">
                  <a:solidFill>
                    <a:srgbClr val="7154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parameters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031605" y="4653915"/>
            <a:ext cx="2019300" cy="853440"/>
            <a:chOff x="0" y="0"/>
            <a:chExt cx="2692400" cy="11379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92400" cy="1137920"/>
            </a:xfrm>
            <a:custGeom>
              <a:avLst/>
              <a:gdLst/>
              <a:ahLst/>
              <a:cxnLst/>
              <a:rect r="r" b="b" t="t" l="l"/>
              <a:pathLst>
                <a:path h="1137920" w="2692400">
                  <a:moveTo>
                    <a:pt x="0" y="189611"/>
                  </a:moveTo>
                  <a:cubicBezTo>
                    <a:pt x="0" y="84963"/>
                    <a:pt x="84963" y="0"/>
                    <a:pt x="189611" y="0"/>
                  </a:cubicBezTo>
                  <a:lnTo>
                    <a:pt x="2502789" y="0"/>
                  </a:lnTo>
                  <a:cubicBezTo>
                    <a:pt x="2607437" y="0"/>
                    <a:pt x="2692400" y="84963"/>
                    <a:pt x="2692400" y="189611"/>
                  </a:cubicBezTo>
                  <a:lnTo>
                    <a:pt x="2692400" y="948309"/>
                  </a:lnTo>
                  <a:cubicBezTo>
                    <a:pt x="2692400" y="1053084"/>
                    <a:pt x="2607437" y="1137920"/>
                    <a:pt x="2502789" y="1137920"/>
                  </a:cubicBezTo>
                  <a:lnTo>
                    <a:pt x="189611" y="1137920"/>
                  </a:lnTo>
                  <a:cubicBezTo>
                    <a:pt x="84963" y="1137920"/>
                    <a:pt x="0" y="1052957"/>
                    <a:pt x="0" y="948309"/>
                  </a:cubicBezTo>
                  <a:close/>
                </a:path>
              </a:pathLst>
            </a:custGeom>
            <a:solidFill>
              <a:srgbClr val="F9F7FD"/>
            </a:solidFill>
            <a:ln w="19050" cap="sq">
              <a:solidFill>
                <a:srgbClr val="7154B5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132570" y="4697730"/>
            <a:ext cx="1817370" cy="765810"/>
            <a:chOff x="0" y="0"/>
            <a:chExt cx="2423160" cy="1021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23160" cy="1021078"/>
            </a:xfrm>
            <a:custGeom>
              <a:avLst/>
              <a:gdLst/>
              <a:ahLst/>
              <a:cxnLst/>
              <a:rect r="r" b="b" t="t" l="l"/>
              <a:pathLst>
                <a:path h="1021078" w="2423160">
                  <a:moveTo>
                    <a:pt x="0" y="0"/>
                  </a:moveTo>
                  <a:lnTo>
                    <a:pt x="2423160" y="0"/>
                  </a:lnTo>
                  <a:lnTo>
                    <a:pt x="2423160" y="1021078"/>
                  </a:lnTo>
                  <a:lnTo>
                    <a:pt x="0" y="10210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65" t="0" r="-4065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423160" cy="1030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750" b="true">
                  <a:solidFill>
                    <a:srgbClr val="7154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0.06 MB</a:t>
              </a:r>
            </a:p>
            <a:p>
              <a:pPr algn="ctr">
                <a:lnSpc>
                  <a:spcPts val="2100"/>
                </a:lnSpc>
              </a:pPr>
              <a:r>
                <a:rPr lang="en-US" sz="1750" b="true">
                  <a:solidFill>
                    <a:srgbClr val="7154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 size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58000" y="5783580"/>
            <a:ext cx="342900" cy="285750"/>
            <a:chOff x="0" y="0"/>
            <a:chExt cx="457200" cy="381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572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7154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258050" y="5749290"/>
            <a:ext cx="3829050" cy="434340"/>
            <a:chOff x="0" y="0"/>
            <a:chExt cx="5105400" cy="579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05400" cy="579120"/>
            </a:xfrm>
            <a:custGeom>
              <a:avLst/>
              <a:gdLst/>
              <a:ahLst/>
              <a:cxnLst/>
              <a:rect r="r" b="b" t="t" l="l"/>
              <a:pathLst>
                <a:path h="5791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579120"/>
                  </a:lnTo>
                  <a:lnTo>
                    <a:pt x="0" y="57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775" r="0" b="-12177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5105400" cy="58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5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Designed for edge devices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858000" y="6320790"/>
            <a:ext cx="342900" cy="285750"/>
            <a:chOff x="0" y="0"/>
            <a:chExt cx="457200" cy="381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4572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7154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258050" y="6286500"/>
            <a:ext cx="3829050" cy="434340"/>
            <a:chOff x="0" y="0"/>
            <a:chExt cx="5105400" cy="579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05400" cy="579120"/>
            </a:xfrm>
            <a:custGeom>
              <a:avLst/>
              <a:gdLst/>
              <a:ahLst/>
              <a:cxnLst/>
              <a:rect r="r" b="b" t="t" l="l"/>
              <a:pathLst>
                <a:path h="5791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579120"/>
                  </a:lnTo>
                  <a:lnTo>
                    <a:pt x="0" y="57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775" r="0" b="-12177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5105400" cy="58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5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Useful when memory and computation are very limited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877675" y="1990725"/>
            <a:ext cx="4991100" cy="5562600"/>
            <a:chOff x="0" y="0"/>
            <a:chExt cx="6654800" cy="7416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654800" cy="7416800"/>
            </a:xfrm>
            <a:custGeom>
              <a:avLst/>
              <a:gdLst/>
              <a:ahLst/>
              <a:cxnLst/>
              <a:rect r="r" b="b" t="t" l="l"/>
              <a:pathLst>
                <a:path h="7416800" w="6654800">
                  <a:moveTo>
                    <a:pt x="0" y="1109218"/>
                  </a:moveTo>
                  <a:cubicBezTo>
                    <a:pt x="0" y="496570"/>
                    <a:pt x="496570" y="0"/>
                    <a:pt x="1109218" y="0"/>
                  </a:cubicBezTo>
                  <a:lnTo>
                    <a:pt x="5545582" y="0"/>
                  </a:lnTo>
                  <a:cubicBezTo>
                    <a:pt x="6158230" y="0"/>
                    <a:pt x="6654800" y="496570"/>
                    <a:pt x="6654800" y="1109218"/>
                  </a:cubicBezTo>
                  <a:lnTo>
                    <a:pt x="6654800" y="6307582"/>
                  </a:lnTo>
                  <a:cubicBezTo>
                    <a:pt x="6654800" y="6920230"/>
                    <a:pt x="6158230" y="7416800"/>
                    <a:pt x="5545582" y="7416800"/>
                  </a:cubicBezTo>
                  <a:lnTo>
                    <a:pt x="1109218" y="7416800"/>
                  </a:lnTo>
                  <a:cubicBezTo>
                    <a:pt x="496570" y="7416800"/>
                    <a:pt x="0" y="6920230"/>
                    <a:pt x="0" y="63075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980B9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1887200" y="2000250"/>
            <a:ext cx="4972050" cy="857250"/>
            <a:chOff x="0" y="0"/>
            <a:chExt cx="6629400" cy="1143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629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66294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38900" y="0"/>
                  </a:lnTo>
                  <a:cubicBezTo>
                    <a:pt x="6544056" y="0"/>
                    <a:pt x="6629400" y="85344"/>
                    <a:pt x="6629400" y="190500"/>
                  </a:cubicBezTo>
                  <a:lnTo>
                    <a:pt x="6629400" y="952500"/>
                  </a:lnTo>
                  <a:cubicBezTo>
                    <a:pt x="6629400" y="1057656"/>
                    <a:pt x="6544056" y="1143000"/>
                    <a:pt x="643890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058650" y="2125980"/>
            <a:ext cx="4629150" cy="514350"/>
            <a:chOff x="0" y="0"/>
            <a:chExt cx="6172200" cy="685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172200" cy="685800"/>
            </a:xfrm>
            <a:custGeom>
              <a:avLst/>
              <a:gdLst/>
              <a:ahLst/>
              <a:cxnLst/>
              <a:rect r="r" b="b" t="t" l="l"/>
              <a:pathLst>
                <a:path h="685800" w="6172200">
                  <a:moveTo>
                    <a:pt x="0" y="0"/>
                  </a:moveTo>
                  <a:lnTo>
                    <a:pt x="6172200" y="0"/>
                  </a:lnTo>
                  <a:lnTo>
                    <a:pt x="61722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61722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49"/>
                </a:lnSpc>
              </a:pPr>
              <a:r>
                <a:rPr lang="en-US" sz="28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 Turbo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830614" y="2937824"/>
            <a:ext cx="1096642" cy="1096642"/>
            <a:chOff x="0" y="0"/>
            <a:chExt cx="1462189" cy="146218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2278" cy="1462278"/>
            </a:xfrm>
            <a:custGeom>
              <a:avLst/>
              <a:gdLst/>
              <a:ahLst/>
              <a:cxnLst/>
              <a:rect r="r" b="b" t="t" l="l"/>
              <a:pathLst>
                <a:path h="1462278" w="1462278">
                  <a:moveTo>
                    <a:pt x="0" y="731139"/>
                  </a:moveTo>
                  <a:cubicBezTo>
                    <a:pt x="0" y="327279"/>
                    <a:pt x="327279" y="0"/>
                    <a:pt x="731139" y="0"/>
                  </a:cubicBezTo>
                  <a:cubicBezTo>
                    <a:pt x="1134999" y="0"/>
                    <a:pt x="1462278" y="327279"/>
                    <a:pt x="1462278" y="731139"/>
                  </a:cubicBezTo>
                  <a:cubicBezTo>
                    <a:pt x="1462278" y="1134999"/>
                    <a:pt x="1134999" y="1462278"/>
                    <a:pt x="731139" y="1462278"/>
                  </a:cubicBezTo>
                  <a:cubicBezTo>
                    <a:pt x="327279" y="1462278"/>
                    <a:pt x="0" y="1134872"/>
                    <a:pt x="0" y="731139"/>
                  </a:cubicBezTo>
                  <a:close/>
                </a:path>
              </a:pathLst>
            </a:custGeom>
            <a:solidFill>
              <a:srgbClr val="F8FCFA"/>
            </a:solidFill>
            <a:ln w="22225" cap="sq">
              <a:solidFill>
                <a:srgbClr val="2980B9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4093190" y="3143250"/>
            <a:ext cx="571500" cy="571500"/>
            <a:chOff x="0" y="0"/>
            <a:chExt cx="762000" cy="7620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9525"/>
              <a:ext cx="762000" cy="752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50"/>
                </a:lnSpc>
              </a:pPr>
              <a:r>
                <a:rPr lang="en-US" sz="3625" b="true">
                  <a:solidFill>
                    <a:srgbClr val="2980B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»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287250" y="4057650"/>
            <a:ext cx="4171950" cy="457200"/>
            <a:chOff x="0" y="0"/>
            <a:chExt cx="5562600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562600" cy="609600"/>
            </a:xfrm>
            <a:custGeom>
              <a:avLst/>
              <a:gdLst/>
              <a:ahLst/>
              <a:cxnLst/>
              <a:rect r="r" b="b" t="t" l="l"/>
              <a:pathLst>
                <a:path h="6096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800" r="0" b="-12780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562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2024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Speed-oriented version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287250" y="4663440"/>
            <a:ext cx="342900" cy="285750"/>
            <a:chOff x="0" y="0"/>
            <a:chExt cx="457200" cy="3810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5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4572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687300" y="4629150"/>
            <a:ext cx="3829050" cy="434340"/>
            <a:chOff x="0" y="0"/>
            <a:chExt cx="5105400" cy="5791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105400" cy="579120"/>
            </a:xfrm>
            <a:custGeom>
              <a:avLst/>
              <a:gdLst/>
              <a:ahLst/>
              <a:cxnLst/>
              <a:rect r="r" b="b" t="t" l="l"/>
              <a:pathLst>
                <a:path h="5791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579120"/>
                  </a:lnTo>
                  <a:lnTo>
                    <a:pt x="0" y="57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775" r="0" b="-12177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5105400" cy="58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5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Designed for faster video processing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287250" y="5200650"/>
            <a:ext cx="342900" cy="285750"/>
            <a:chOff x="0" y="0"/>
            <a:chExt cx="457200" cy="381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5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4572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687300" y="5166360"/>
            <a:ext cx="3829050" cy="434340"/>
            <a:chOff x="0" y="0"/>
            <a:chExt cx="5105400" cy="5791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105400" cy="579120"/>
            </a:xfrm>
            <a:custGeom>
              <a:avLst/>
              <a:gdLst/>
              <a:ahLst/>
              <a:cxnLst/>
              <a:rect r="r" b="b" t="t" l="l"/>
              <a:pathLst>
                <a:path h="5791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579120"/>
                  </a:lnTo>
                  <a:lnTo>
                    <a:pt x="0" y="57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775" r="0" b="-12177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5105400" cy="58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5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Grouped 3D convolutions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287250" y="5737860"/>
            <a:ext cx="342900" cy="285750"/>
            <a:chOff x="0" y="0"/>
            <a:chExt cx="457200" cy="381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5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4572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687300" y="5703570"/>
            <a:ext cx="3829050" cy="434340"/>
            <a:chOff x="0" y="0"/>
            <a:chExt cx="5105400" cy="5791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105400" cy="579120"/>
            </a:xfrm>
            <a:custGeom>
              <a:avLst/>
              <a:gdLst/>
              <a:ahLst/>
              <a:cxnLst/>
              <a:rect r="r" b="b" t="t" l="l"/>
              <a:pathLst>
                <a:path h="5791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579120"/>
                  </a:lnTo>
                  <a:lnTo>
                    <a:pt x="0" y="57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775" r="0" b="-12177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5105400" cy="58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5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Aggressive downsampling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287250" y="6275070"/>
            <a:ext cx="342900" cy="285750"/>
            <a:chOff x="0" y="0"/>
            <a:chExt cx="457200" cy="3810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5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45720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687300" y="6240780"/>
            <a:ext cx="3829050" cy="434340"/>
            <a:chOff x="0" y="0"/>
            <a:chExt cx="5105400" cy="5791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105400" cy="579120"/>
            </a:xfrm>
            <a:custGeom>
              <a:avLst/>
              <a:gdLst/>
              <a:ahLst/>
              <a:cxnLst/>
              <a:rect r="r" b="b" t="t" l="l"/>
              <a:pathLst>
                <a:path h="5791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579120"/>
                  </a:lnTo>
                  <a:lnTo>
                    <a:pt x="0" y="57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775" r="0" b="-12177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5105400" cy="58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5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Focused on speed and parallel processing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90625" y="8048625"/>
            <a:ext cx="15906750" cy="990600"/>
            <a:chOff x="0" y="0"/>
            <a:chExt cx="21209000" cy="13208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12090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12090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20988910" y="0"/>
                  </a:lnTo>
                  <a:cubicBezTo>
                    <a:pt x="21110448" y="0"/>
                    <a:pt x="21209000" y="98552"/>
                    <a:pt x="21209000" y="220091"/>
                  </a:cubicBezTo>
                  <a:lnTo>
                    <a:pt x="21209000" y="1100709"/>
                  </a:lnTo>
                  <a:cubicBezTo>
                    <a:pt x="21209000" y="1222248"/>
                    <a:pt x="21110448" y="1320800"/>
                    <a:pt x="20988910" y="1320800"/>
                  </a:cubicBezTo>
                  <a:lnTo>
                    <a:pt x="220091" y="1320800"/>
                  </a:lnTo>
                  <a:cubicBezTo>
                    <a:pt x="98552" y="1320800"/>
                    <a:pt x="0" y="1222248"/>
                    <a:pt x="0" y="1100709"/>
                  </a:cubicBezTo>
                  <a:close/>
                </a:path>
              </a:pathLst>
            </a:custGeom>
            <a:solidFill>
              <a:srgbClr val="E8F4EE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543050" y="8298180"/>
            <a:ext cx="4343400" cy="400050"/>
            <a:chOff x="0" y="0"/>
            <a:chExt cx="5791200" cy="5334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791200" cy="533400"/>
            </a:xfrm>
            <a:custGeom>
              <a:avLst/>
              <a:gdLst/>
              <a:ahLst/>
              <a:cxnLst/>
              <a:rect r="r" b="b" t="t" l="l"/>
              <a:pathLst>
                <a:path h="5334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9525"/>
              <a:ext cx="57912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 = balanced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5829300" y="8298180"/>
            <a:ext cx="4800600" cy="400050"/>
            <a:chOff x="0" y="0"/>
            <a:chExt cx="6400800" cy="5334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4008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9525"/>
              <a:ext cx="64008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7154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 Edge = ultra-lightweight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972800" y="8298180"/>
            <a:ext cx="5257800" cy="400050"/>
            <a:chOff x="0" y="0"/>
            <a:chExt cx="7010400" cy="5334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010400" cy="533400"/>
            </a:xfrm>
            <a:custGeom>
              <a:avLst/>
              <a:gdLst/>
              <a:ahLst/>
              <a:cxnLst/>
              <a:rect r="r" b="b" t="t" l="l"/>
              <a:pathLst>
                <a:path h="5334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9525"/>
              <a:ext cx="7010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2980B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 Turbo = speed-oriented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5543550" y="8206740"/>
            <a:ext cx="11430" cy="571500"/>
            <a:chOff x="0" y="0"/>
            <a:chExt cx="15240" cy="7620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5240" cy="762000"/>
            </a:xfrm>
            <a:custGeom>
              <a:avLst/>
              <a:gdLst/>
              <a:ahLst/>
              <a:cxnLst/>
              <a:rect r="r" b="b" t="t" l="l"/>
              <a:pathLst>
                <a:path h="762000" w="15240">
                  <a:moveTo>
                    <a:pt x="0" y="0"/>
                  </a:moveTo>
                  <a:lnTo>
                    <a:pt x="15240" y="0"/>
                  </a:lnTo>
                  <a:lnTo>
                    <a:pt x="1524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687050" y="8206740"/>
            <a:ext cx="11430" cy="571500"/>
            <a:chOff x="0" y="0"/>
            <a:chExt cx="15240" cy="7620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5240" cy="762000"/>
            </a:xfrm>
            <a:custGeom>
              <a:avLst/>
              <a:gdLst/>
              <a:ahLst/>
              <a:cxnLst/>
              <a:rect r="r" b="b" t="t" l="l"/>
              <a:pathLst>
                <a:path h="762000" w="15240">
                  <a:moveTo>
                    <a:pt x="0" y="0"/>
                  </a:moveTo>
                  <a:lnTo>
                    <a:pt x="15240" y="0"/>
                  </a:lnTo>
                  <a:lnTo>
                    <a:pt x="1524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F6F55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00200" y="-1257300"/>
            <a:ext cx="3886200" cy="3429000"/>
            <a:chOff x="0" y="0"/>
            <a:chExt cx="5181600" cy="457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16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5181600">
                  <a:moveTo>
                    <a:pt x="0" y="2286000"/>
                  </a:moveTo>
                  <a:cubicBezTo>
                    <a:pt x="0" y="1023493"/>
                    <a:pt x="1159891" y="0"/>
                    <a:pt x="2590800" y="0"/>
                  </a:cubicBezTo>
                  <a:cubicBezTo>
                    <a:pt x="4021709" y="0"/>
                    <a:pt x="5181600" y="1023493"/>
                    <a:pt x="5181600" y="2286000"/>
                  </a:cubicBezTo>
                  <a:cubicBezTo>
                    <a:pt x="5181600" y="3548507"/>
                    <a:pt x="4021709" y="4572000"/>
                    <a:pt x="2590800" y="4572000"/>
                  </a:cubicBezTo>
                  <a:cubicBezTo>
                    <a:pt x="1159891" y="4572000"/>
                    <a:pt x="0" y="3548507"/>
                    <a:pt x="0" y="2286000"/>
                  </a:cubicBezTo>
                  <a:close/>
                </a:path>
              </a:pathLst>
            </a:custGeom>
            <a:solidFill>
              <a:srgbClr val="DAED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28700" y="8001000"/>
            <a:ext cx="5372100" cy="2971800"/>
            <a:chOff x="0" y="0"/>
            <a:chExt cx="7162800" cy="396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628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7162800">
                  <a:moveTo>
                    <a:pt x="0" y="1981200"/>
                  </a:moveTo>
                  <a:cubicBezTo>
                    <a:pt x="0" y="886968"/>
                    <a:pt x="1603502" y="0"/>
                    <a:pt x="3581400" y="0"/>
                  </a:cubicBezTo>
                  <a:cubicBezTo>
                    <a:pt x="5559298" y="0"/>
                    <a:pt x="7162800" y="886968"/>
                    <a:pt x="7162800" y="1981200"/>
                  </a:cubicBezTo>
                  <a:cubicBezTo>
                    <a:pt x="7162800" y="3075432"/>
                    <a:pt x="5559298" y="3962400"/>
                    <a:pt x="3581400" y="3962400"/>
                  </a:cubicBezTo>
                  <a:cubicBezTo>
                    <a:pt x="1603502" y="3962400"/>
                    <a:pt x="0" y="3075432"/>
                    <a:pt x="0" y="19812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0" y="-1028700"/>
            <a:ext cx="4800600" cy="2857500"/>
            <a:chOff x="0" y="0"/>
            <a:chExt cx="64008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08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400800">
                  <a:moveTo>
                    <a:pt x="0" y="1905000"/>
                  </a:moveTo>
                  <a:cubicBezTo>
                    <a:pt x="0" y="852932"/>
                    <a:pt x="1432814" y="0"/>
                    <a:pt x="3200400" y="0"/>
                  </a:cubicBezTo>
                  <a:cubicBezTo>
                    <a:pt x="4967986" y="0"/>
                    <a:pt x="6400800" y="852932"/>
                    <a:pt x="6400800" y="1905000"/>
                  </a:cubicBezTo>
                  <a:cubicBezTo>
                    <a:pt x="6400800" y="2957068"/>
                    <a:pt x="4967986" y="3810000"/>
                    <a:pt x="3200400" y="3810000"/>
                  </a:cubicBezTo>
                  <a:cubicBezTo>
                    <a:pt x="1432814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BEE0C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87500" y="7886700"/>
            <a:ext cx="5029200" cy="3200400"/>
            <a:chOff x="0" y="0"/>
            <a:chExt cx="6705600" cy="426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5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6705600">
                  <a:moveTo>
                    <a:pt x="0" y="2133600"/>
                  </a:moveTo>
                  <a:cubicBezTo>
                    <a:pt x="0" y="955294"/>
                    <a:pt x="1501140" y="0"/>
                    <a:pt x="3352800" y="0"/>
                  </a:cubicBezTo>
                  <a:cubicBezTo>
                    <a:pt x="5204460" y="0"/>
                    <a:pt x="6705600" y="955294"/>
                    <a:pt x="6705600" y="2133600"/>
                  </a:cubicBezTo>
                  <a:cubicBezTo>
                    <a:pt x="6705600" y="3311906"/>
                    <a:pt x="5204460" y="4267200"/>
                    <a:pt x="3352800" y="4267200"/>
                  </a:cubicBezTo>
                  <a:cubicBezTo>
                    <a:pt x="1501140" y="4267200"/>
                    <a:pt x="0" y="3311906"/>
                    <a:pt x="0" y="2133600"/>
                  </a:cubicBezTo>
                  <a:close/>
                </a:path>
              </a:pathLst>
            </a:custGeom>
            <a:solidFill>
              <a:srgbClr val="DAED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316450" y="0"/>
            <a:ext cx="205740" cy="1543050"/>
            <a:chOff x="0" y="0"/>
            <a:chExt cx="274320" cy="205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320" cy="2057400"/>
            </a:xfrm>
            <a:custGeom>
              <a:avLst/>
              <a:gdLst/>
              <a:ahLst/>
              <a:cxnLst/>
              <a:rect r="r" b="b" t="t" l="l"/>
              <a:pathLst>
                <a:path h="2057400" w="27432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228600" y="0"/>
                  </a:lnTo>
                  <a:cubicBezTo>
                    <a:pt x="253873" y="0"/>
                    <a:pt x="274320" y="20447"/>
                    <a:pt x="274320" y="45720"/>
                  </a:cubicBezTo>
                  <a:lnTo>
                    <a:pt x="274320" y="2011680"/>
                  </a:lnTo>
                  <a:cubicBezTo>
                    <a:pt x="274320" y="2036953"/>
                    <a:pt x="253873" y="2057400"/>
                    <a:pt x="228600" y="2057400"/>
                  </a:cubicBezTo>
                  <a:lnTo>
                    <a:pt x="45720" y="2057400"/>
                  </a:lnTo>
                  <a:cubicBezTo>
                    <a:pt x="20447" y="2057400"/>
                    <a:pt x="0" y="2036953"/>
                    <a:pt x="0" y="201168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8972550"/>
            <a:ext cx="2514600" cy="205740"/>
            <a:chOff x="0" y="0"/>
            <a:chExt cx="335280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52800" cy="274320"/>
            </a:xfrm>
            <a:custGeom>
              <a:avLst/>
              <a:gdLst/>
              <a:ahLst/>
              <a:cxnLst/>
              <a:rect r="r" b="b" t="t" l="l"/>
              <a:pathLst>
                <a:path h="274320" w="335280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lnTo>
                    <a:pt x="3307080" y="0"/>
                  </a:lnTo>
                  <a:cubicBezTo>
                    <a:pt x="3332353" y="0"/>
                    <a:pt x="3352800" y="20447"/>
                    <a:pt x="3352800" y="45720"/>
                  </a:cubicBezTo>
                  <a:lnTo>
                    <a:pt x="3352800" y="228600"/>
                  </a:lnTo>
                  <a:cubicBezTo>
                    <a:pt x="3352800" y="253873"/>
                    <a:pt x="3332353" y="274320"/>
                    <a:pt x="3307080" y="274320"/>
                  </a:cubicBezTo>
                  <a:lnTo>
                    <a:pt x="45720" y="274320"/>
                  </a:lnTo>
                  <a:cubicBezTo>
                    <a:pt x="20447" y="274320"/>
                    <a:pt x="0" y="253873"/>
                    <a:pt x="0" y="228600"/>
                  </a:cubicBez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80060"/>
            <a:ext cx="13487400" cy="685800"/>
            <a:chOff x="0" y="0"/>
            <a:chExt cx="179832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8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983200">
                  <a:moveTo>
                    <a:pt x="0" y="0"/>
                  </a:moveTo>
                  <a:lnTo>
                    <a:pt x="17983200" y="0"/>
                  </a:lnTo>
                  <a:lnTo>
                    <a:pt x="1798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7983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50"/>
                </a:lnSpc>
              </a:pPr>
              <a:r>
                <a:rPr lang="en-US" sz="387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Why Nano3D is Practical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1314450"/>
            <a:ext cx="4572000" cy="40005"/>
            <a:chOff x="0" y="0"/>
            <a:chExt cx="6096000" cy="533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53340"/>
            </a:xfrm>
            <a:custGeom>
              <a:avLst/>
              <a:gdLst/>
              <a:ahLst/>
              <a:cxnLst/>
              <a:rect r="r" b="b" t="t" l="l"/>
              <a:pathLst>
                <a:path h="533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340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0150" y="1543050"/>
            <a:ext cx="16002000" cy="628650"/>
            <a:chOff x="0" y="0"/>
            <a:chExt cx="21336000" cy="838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6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5982" r="0" b="-4459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3360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50"/>
                </a:lnSpc>
              </a:pPr>
              <a:r>
                <a:rPr lang="en-US" sz="237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surveillance model should not only be accurate, but also fast and lightweight enough for practical deployment.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6325" y="2333625"/>
            <a:ext cx="7334250" cy="3048000"/>
            <a:chOff x="0" y="0"/>
            <a:chExt cx="9779000" cy="406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79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9779000">
                  <a:moveTo>
                    <a:pt x="0" y="677291"/>
                  </a:moveTo>
                  <a:cubicBezTo>
                    <a:pt x="0" y="303276"/>
                    <a:pt x="303276" y="0"/>
                    <a:pt x="677291" y="0"/>
                  </a:cubicBezTo>
                  <a:lnTo>
                    <a:pt x="9101709" y="0"/>
                  </a:lnTo>
                  <a:cubicBezTo>
                    <a:pt x="9475724" y="0"/>
                    <a:pt x="9779000" y="303276"/>
                    <a:pt x="9779000" y="677291"/>
                  </a:cubicBezTo>
                  <a:lnTo>
                    <a:pt x="9779000" y="3386709"/>
                  </a:lnTo>
                  <a:cubicBezTo>
                    <a:pt x="9779000" y="3760851"/>
                    <a:pt x="9475724" y="4064000"/>
                    <a:pt x="9101709" y="4064000"/>
                  </a:cubicBezTo>
                  <a:lnTo>
                    <a:pt x="677291" y="4064000"/>
                  </a:lnTo>
                  <a:cubicBezTo>
                    <a:pt x="303276" y="4064000"/>
                    <a:pt x="0" y="3760724"/>
                    <a:pt x="0" y="33867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323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543050" y="2606040"/>
            <a:ext cx="5486400" cy="480060"/>
            <a:chOff x="0" y="0"/>
            <a:chExt cx="731520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4" b="true">
                  <a:solidFill>
                    <a:srgbClr val="B2323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Heavy 3D CNNs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43050" y="3143250"/>
            <a:ext cx="5257800" cy="400050"/>
            <a:chOff x="0" y="0"/>
            <a:chExt cx="701040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10400" cy="533400"/>
            </a:xfrm>
            <a:custGeom>
              <a:avLst/>
              <a:gdLst/>
              <a:ahLst/>
              <a:cxnLst/>
              <a:rect r="r" b="b" t="t" l="l"/>
              <a:pathLst>
                <a:path h="5334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010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5"/>
                </a:lnSpc>
              </a:pPr>
              <a:r>
                <a:rPr lang="en-US" sz="1937" b="true">
                  <a:solidFill>
                    <a:srgbClr val="626B7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C3D / I3D / ResNet3D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88770" y="3662553"/>
            <a:ext cx="6080760" cy="12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812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Large 3D convolutional structures</a:t>
            </a:r>
          </a:p>
          <a:p>
            <a:pPr algn="l">
              <a:lnSpc>
                <a:spcPts val="2175"/>
              </a:lnSpc>
            </a:pPr>
            <a:r>
              <a:rPr lang="en-US" sz="1812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Higher parameter count</a:t>
            </a:r>
          </a:p>
          <a:p>
            <a:pPr algn="l">
              <a:lnSpc>
                <a:spcPts val="2175"/>
              </a:lnSpc>
            </a:pPr>
            <a:r>
              <a:rPr lang="en-US" sz="1812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Larger model size</a:t>
            </a:r>
          </a:p>
          <a:p>
            <a:pPr algn="l">
              <a:lnSpc>
                <a:spcPts val="2175"/>
              </a:lnSpc>
            </a:pPr>
            <a:r>
              <a:rPr lang="en-US" sz="1812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Higher inference cost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77425" y="2333625"/>
            <a:ext cx="7334250" cy="3048000"/>
            <a:chOff x="0" y="0"/>
            <a:chExt cx="9779000" cy="406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79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9779000">
                  <a:moveTo>
                    <a:pt x="0" y="677291"/>
                  </a:moveTo>
                  <a:cubicBezTo>
                    <a:pt x="0" y="303276"/>
                    <a:pt x="303276" y="0"/>
                    <a:pt x="677291" y="0"/>
                  </a:cubicBezTo>
                  <a:lnTo>
                    <a:pt x="9101709" y="0"/>
                  </a:lnTo>
                  <a:cubicBezTo>
                    <a:pt x="9475724" y="0"/>
                    <a:pt x="9779000" y="303276"/>
                    <a:pt x="9779000" y="677291"/>
                  </a:cubicBezTo>
                  <a:lnTo>
                    <a:pt x="9779000" y="3386709"/>
                  </a:lnTo>
                  <a:cubicBezTo>
                    <a:pt x="9779000" y="3760851"/>
                    <a:pt x="9475724" y="4064000"/>
                    <a:pt x="9101709" y="4064000"/>
                  </a:cubicBezTo>
                  <a:lnTo>
                    <a:pt x="677291" y="4064000"/>
                  </a:lnTo>
                  <a:cubicBezTo>
                    <a:pt x="303276" y="4064000"/>
                    <a:pt x="0" y="3760724"/>
                    <a:pt x="0" y="33867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344150" y="2606040"/>
            <a:ext cx="5486400" cy="480060"/>
            <a:chOff x="0" y="0"/>
            <a:chExt cx="731520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874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389870" y="3479673"/>
            <a:ext cx="6080760" cy="13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812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Around 486 thousand parameters</a:t>
            </a:r>
          </a:p>
          <a:p>
            <a:pPr algn="l">
              <a:lnSpc>
                <a:spcPts val="2175"/>
              </a:lnSpc>
            </a:pPr>
            <a:r>
              <a:rPr lang="en-US" sz="1812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1.86 MB model size</a:t>
            </a:r>
          </a:p>
          <a:p>
            <a:pPr algn="l">
              <a:lnSpc>
                <a:spcPts val="2175"/>
              </a:lnSpc>
            </a:pPr>
            <a:r>
              <a:rPr lang="en-US" sz="1812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Compact architecture</a:t>
            </a:r>
          </a:p>
          <a:p>
            <a:pPr algn="l">
              <a:lnSpc>
                <a:spcPts val="2175"/>
              </a:lnSpc>
            </a:pPr>
            <a:r>
              <a:rPr lang="en-US" sz="1812">
                <a:solidFill>
                  <a:srgbClr val="171B1F"/>
                </a:solidFill>
                <a:latin typeface="Aptos"/>
                <a:ea typeface="Aptos"/>
                <a:cs typeface="Aptos"/>
                <a:sym typeface="Aptos"/>
              </a:rPr>
              <a:t>•  Better practical trade-off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652829" y="3390457"/>
            <a:ext cx="982342" cy="982342"/>
            <a:chOff x="0" y="0"/>
            <a:chExt cx="1309789" cy="130978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9878" cy="1309878"/>
            </a:xfrm>
            <a:custGeom>
              <a:avLst/>
              <a:gdLst/>
              <a:ahLst/>
              <a:cxnLst/>
              <a:rect r="r" b="b" t="t" l="l"/>
              <a:pathLst>
                <a:path h="1309878" w="1309878">
                  <a:moveTo>
                    <a:pt x="0" y="654939"/>
                  </a:moveTo>
                  <a:cubicBezTo>
                    <a:pt x="0" y="293243"/>
                    <a:pt x="293243" y="0"/>
                    <a:pt x="654939" y="0"/>
                  </a:cubicBezTo>
                  <a:cubicBezTo>
                    <a:pt x="1016635" y="0"/>
                    <a:pt x="1309878" y="293243"/>
                    <a:pt x="1309878" y="654939"/>
                  </a:cubicBezTo>
                  <a:cubicBezTo>
                    <a:pt x="1309878" y="1016635"/>
                    <a:pt x="1016635" y="1309878"/>
                    <a:pt x="654939" y="1309878"/>
                  </a:cubicBezTo>
                  <a:cubicBezTo>
                    <a:pt x="293243" y="1309878"/>
                    <a:pt x="0" y="1016635"/>
                    <a:pt x="0" y="654939"/>
                  </a:cubicBezTo>
                  <a:close/>
                </a:path>
              </a:pathLst>
            </a:custGeom>
            <a:solidFill>
              <a:srgbClr val="FFFFFF"/>
            </a:solidFill>
            <a:ln w="22225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886825" y="3653028"/>
            <a:ext cx="514350" cy="457200"/>
            <a:chOff x="0" y="0"/>
            <a:chExt cx="6858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5800" cy="609600"/>
            </a:xfrm>
            <a:custGeom>
              <a:avLst/>
              <a:gdLst/>
              <a:ahLst/>
              <a:cxnLst/>
              <a:rect r="r" b="b" t="t" l="l"/>
              <a:pathLst>
                <a:path h="6096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6858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76325" y="5762625"/>
            <a:ext cx="7848600" cy="2053590"/>
            <a:chOff x="0" y="0"/>
            <a:chExt cx="10464800" cy="2738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64800" cy="2738120"/>
            </a:xfrm>
            <a:custGeom>
              <a:avLst/>
              <a:gdLst/>
              <a:ahLst/>
              <a:cxnLst/>
              <a:rect r="r" b="b" t="t" l="l"/>
              <a:pathLst>
                <a:path h="2738120" w="10464800">
                  <a:moveTo>
                    <a:pt x="0" y="456311"/>
                  </a:moveTo>
                  <a:cubicBezTo>
                    <a:pt x="0" y="204343"/>
                    <a:pt x="204343" y="0"/>
                    <a:pt x="456311" y="0"/>
                  </a:cubicBezTo>
                  <a:lnTo>
                    <a:pt x="10008489" y="0"/>
                  </a:lnTo>
                  <a:cubicBezTo>
                    <a:pt x="10260457" y="0"/>
                    <a:pt x="10464800" y="204343"/>
                    <a:pt x="10464800" y="456311"/>
                  </a:cubicBezTo>
                  <a:lnTo>
                    <a:pt x="10464800" y="2281809"/>
                  </a:lnTo>
                  <a:cubicBezTo>
                    <a:pt x="10464800" y="2533904"/>
                    <a:pt x="10260457" y="2738120"/>
                    <a:pt x="10008489" y="2738120"/>
                  </a:cubicBezTo>
                  <a:lnTo>
                    <a:pt x="456311" y="2738120"/>
                  </a:lnTo>
                  <a:cubicBezTo>
                    <a:pt x="204343" y="2738120"/>
                    <a:pt x="0" y="2533777"/>
                    <a:pt x="0" y="2281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28750" y="5966460"/>
            <a:ext cx="2743200" cy="342900"/>
            <a:chOff x="0" y="0"/>
            <a:chExt cx="3657600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457200"/>
            </a:xfrm>
            <a:custGeom>
              <a:avLst/>
              <a:gdLst/>
              <a:ahLst/>
              <a:cxnLst/>
              <a:rect r="r" b="b" t="t" l="l"/>
              <a:pathLst>
                <a:path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6576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2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Parameter Count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28750" y="6503670"/>
            <a:ext cx="742950" cy="285750"/>
            <a:chOff x="0" y="0"/>
            <a:chExt cx="990600" cy="381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0600" cy="381000"/>
            </a:xfrm>
            <a:custGeom>
              <a:avLst/>
              <a:gdLst/>
              <a:ahLst/>
              <a:cxnLst/>
              <a:rect r="r" b="b" t="t" l="l"/>
              <a:pathLst>
                <a:path h="3810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906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2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C3D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143250" y="6515100"/>
            <a:ext cx="3829050" cy="262890"/>
            <a:chOff x="0" y="0"/>
            <a:chExt cx="5105400" cy="350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05400" cy="350520"/>
            </a:xfrm>
            <a:custGeom>
              <a:avLst/>
              <a:gdLst/>
              <a:ahLst/>
              <a:cxnLst/>
              <a:rect r="r" b="b" t="t" l="l"/>
              <a:pathLst>
                <a:path h="3505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350520"/>
                  </a:lnTo>
                  <a:lnTo>
                    <a:pt x="0" y="350520"/>
                  </a:lnTo>
                  <a:close/>
                </a:path>
              </a:pathLst>
            </a:custGeom>
            <a:solidFill>
              <a:srgbClr val="CDD5C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143250" y="6149340"/>
            <a:ext cx="3714750" cy="308610"/>
            <a:chOff x="0" y="0"/>
            <a:chExt cx="4953000" cy="411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53000" cy="411480"/>
            </a:xfrm>
            <a:custGeom>
              <a:avLst/>
              <a:gdLst/>
              <a:ahLst/>
              <a:cxnLst/>
              <a:rect r="r" b="b" t="t" l="l"/>
              <a:pathLst>
                <a:path h="41148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542" r="0" b="-18454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953000" cy="411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around 28 million parameters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28750" y="7143750"/>
            <a:ext cx="1085850" cy="285750"/>
            <a:chOff x="0" y="0"/>
            <a:chExt cx="1447800" cy="381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478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4478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25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143250" y="7155180"/>
            <a:ext cx="628650" cy="262890"/>
            <a:chOff x="0" y="0"/>
            <a:chExt cx="838200" cy="350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8200" cy="350520"/>
            </a:xfrm>
            <a:custGeom>
              <a:avLst/>
              <a:gdLst/>
              <a:ahLst/>
              <a:cxnLst/>
              <a:rect r="r" b="b" t="t" l="l"/>
              <a:pathLst>
                <a:path h="35052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350520"/>
                  </a:lnTo>
                  <a:lnTo>
                    <a:pt x="0" y="350520"/>
                  </a:ln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943350" y="7029450"/>
            <a:ext cx="3371850" cy="480060"/>
            <a:chOff x="0" y="0"/>
            <a:chExt cx="449580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95800" cy="640080"/>
            </a:xfrm>
            <a:custGeom>
              <a:avLst/>
              <a:gdLst/>
              <a:ahLst/>
              <a:cxnLst/>
              <a:rect r="r" b="b" t="t" l="l"/>
              <a:pathLst>
                <a:path h="64008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859" r="0" b="-8685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4958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9"/>
                </a:lnSpc>
              </a:pPr>
              <a:r>
                <a:rPr lang="en-US" sz="1324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around 486 thousand parameters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63075" y="5762625"/>
            <a:ext cx="7848600" cy="2053590"/>
            <a:chOff x="0" y="0"/>
            <a:chExt cx="10464800" cy="2738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64800" cy="2738120"/>
            </a:xfrm>
            <a:custGeom>
              <a:avLst/>
              <a:gdLst/>
              <a:ahLst/>
              <a:cxnLst/>
              <a:rect r="r" b="b" t="t" l="l"/>
              <a:pathLst>
                <a:path h="2738120" w="10464800">
                  <a:moveTo>
                    <a:pt x="0" y="456311"/>
                  </a:moveTo>
                  <a:cubicBezTo>
                    <a:pt x="0" y="204343"/>
                    <a:pt x="204343" y="0"/>
                    <a:pt x="456311" y="0"/>
                  </a:cubicBezTo>
                  <a:lnTo>
                    <a:pt x="10008489" y="0"/>
                  </a:lnTo>
                  <a:cubicBezTo>
                    <a:pt x="10260457" y="0"/>
                    <a:pt x="10464800" y="204343"/>
                    <a:pt x="10464800" y="456311"/>
                  </a:cubicBezTo>
                  <a:lnTo>
                    <a:pt x="10464800" y="2281809"/>
                  </a:lnTo>
                  <a:cubicBezTo>
                    <a:pt x="10464800" y="2533904"/>
                    <a:pt x="10260457" y="2738120"/>
                    <a:pt x="10008489" y="2738120"/>
                  </a:cubicBezTo>
                  <a:lnTo>
                    <a:pt x="456311" y="2738120"/>
                  </a:lnTo>
                  <a:cubicBezTo>
                    <a:pt x="204343" y="2738120"/>
                    <a:pt x="0" y="2533777"/>
                    <a:pt x="0" y="22818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715500" y="5966460"/>
            <a:ext cx="2514600" cy="342900"/>
            <a:chOff x="0" y="0"/>
            <a:chExt cx="3352800" cy="457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5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33528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2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 Size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15500" y="6503670"/>
            <a:ext cx="742950" cy="285750"/>
            <a:chOff x="0" y="0"/>
            <a:chExt cx="990600" cy="381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0600" cy="381000"/>
            </a:xfrm>
            <a:custGeom>
              <a:avLst/>
              <a:gdLst/>
              <a:ahLst/>
              <a:cxnLst/>
              <a:rect r="r" b="b" t="t" l="l"/>
              <a:pathLst>
                <a:path h="3810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9906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25" b="true">
                  <a:solidFill>
                    <a:srgbClr val="171B1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C3D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487150" y="6515100"/>
            <a:ext cx="3829050" cy="262890"/>
            <a:chOff x="0" y="0"/>
            <a:chExt cx="5105400" cy="350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05400" cy="350520"/>
            </a:xfrm>
            <a:custGeom>
              <a:avLst/>
              <a:gdLst/>
              <a:ahLst/>
              <a:cxnLst/>
              <a:rect r="r" b="b" t="t" l="l"/>
              <a:pathLst>
                <a:path h="35052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350520"/>
                  </a:lnTo>
                  <a:lnTo>
                    <a:pt x="0" y="350520"/>
                  </a:lnTo>
                  <a:close/>
                </a:path>
              </a:pathLst>
            </a:custGeom>
            <a:solidFill>
              <a:srgbClr val="CDD5C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487150" y="6149340"/>
            <a:ext cx="3771900" cy="308610"/>
            <a:chOff x="0" y="0"/>
            <a:chExt cx="5029200" cy="4114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029200" cy="411480"/>
            </a:xfrm>
            <a:custGeom>
              <a:avLst/>
              <a:gdLst/>
              <a:ahLst/>
              <a:cxnLst/>
              <a:rect r="r" b="b" t="t" l="l"/>
              <a:pathLst>
                <a:path h="41148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5029200" cy="411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171B1F"/>
                  </a:solidFill>
                  <a:latin typeface="Aptos"/>
                  <a:ea typeface="Aptos"/>
                  <a:cs typeface="Aptos"/>
                  <a:sym typeface="Aptos"/>
                </a:rPr>
                <a:t>above 100 MB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715500" y="7143750"/>
            <a:ext cx="1085850" cy="285750"/>
            <a:chOff x="0" y="0"/>
            <a:chExt cx="1447800" cy="381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478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4478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0"/>
                </a:lnSpc>
              </a:pPr>
              <a:r>
                <a:rPr lang="en-US" sz="1625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Nano3D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487150" y="7155180"/>
            <a:ext cx="480060" cy="262890"/>
            <a:chOff x="0" y="0"/>
            <a:chExt cx="640080" cy="350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0080" cy="350520"/>
            </a:xfrm>
            <a:custGeom>
              <a:avLst/>
              <a:gdLst/>
              <a:ahLst/>
              <a:cxnLst/>
              <a:rect r="r" b="b" t="t" l="l"/>
              <a:pathLst>
                <a:path h="35052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50520"/>
                  </a:lnTo>
                  <a:lnTo>
                    <a:pt x="0" y="350520"/>
                  </a:lnTo>
                  <a:close/>
                </a:path>
              </a:pathLst>
            </a:custGeom>
            <a:solidFill>
              <a:srgbClr val="1F6F5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115800" y="7029450"/>
            <a:ext cx="1371600" cy="480060"/>
            <a:chOff x="0" y="0"/>
            <a:chExt cx="1828800" cy="6400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28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18288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9"/>
                </a:lnSpc>
              </a:pPr>
              <a:r>
                <a:rPr lang="en-US" sz="1324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1.86 MB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47775" y="8277225"/>
            <a:ext cx="15792450" cy="990600"/>
            <a:chOff x="0" y="0"/>
            <a:chExt cx="21056600" cy="1320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0566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10566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20836510" y="0"/>
                  </a:lnTo>
                  <a:cubicBezTo>
                    <a:pt x="20958048" y="0"/>
                    <a:pt x="21056600" y="98552"/>
                    <a:pt x="21056600" y="220091"/>
                  </a:cubicBezTo>
                  <a:lnTo>
                    <a:pt x="21056600" y="1100709"/>
                  </a:lnTo>
                  <a:cubicBezTo>
                    <a:pt x="21056600" y="1222248"/>
                    <a:pt x="20958048" y="1320800"/>
                    <a:pt x="20836510" y="1320800"/>
                  </a:cubicBezTo>
                  <a:lnTo>
                    <a:pt x="220091" y="1320800"/>
                  </a:lnTo>
                  <a:cubicBezTo>
                    <a:pt x="98552" y="1320800"/>
                    <a:pt x="0" y="1222248"/>
                    <a:pt x="0" y="1100709"/>
                  </a:cubicBezTo>
                  <a:close/>
                </a:path>
              </a:pathLst>
            </a:custGeom>
            <a:solidFill>
              <a:srgbClr val="E8F4EE"/>
            </a:solidFill>
            <a:ln w="19050" cap="sq">
              <a:solidFill>
                <a:srgbClr val="1F6F55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657350" y="8423910"/>
            <a:ext cx="14916150" cy="571500"/>
            <a:chOff x="0" y="0"/>
            <a:chExt cx="19888200" cy="762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888200" cy="762000"/>
            </a:xfrm>
            <a:custGeom>
              <a:avLst/>
              <a:gdLst/>
              <a:ahLst/>
              <a:cxnLst/>
              <a:rect r="r" b="b" t="t" l="l"/>
              <a:pathLst>
                <a:path h="762000" w="19888200">
                  <a:moveTo>
                    <a:pt x="0" y="0"/>
                  </a:moveTo>
                  <a:lnTo>
                    <a:pt x="19888200" y="0"/>
                  </a:lnTo>
                  <a:lnTo>
                    <a:pt x="198882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8559" r="0" b="-45855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9525"/>
              <a:ext cx="19888200" cy="752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F6F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carefully designed compact architecture can provide a better practical trade-off between accuracy, efficiency, and deployability.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4172" y="1028700"/>
            <a:ext cx="11419656" cy="8229600"/>
          </a:xfrm>
          <a:custGeom>
            <a:avLst/>
            <a:gdLst/>
            <a:ahLst/>
            <a:cxnLst/>
            <a:rect r="r" b="b" t="t" l="l"/>
            <a:pathLst>
              <a:path h="8229600" w="11419656">
                <a:moveTo>
                  <a:pt x="0" y="0"/>
                </a:moveTo>
                <a:lnTo>
                  <a:pt x="11419656" y="0"/>
                </a:lnTo>
                <a:lnTo>
                  <a:pt x="114196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6676" y="1028700"/>
            <a:ext cx="15454648" cy="8229600"/>
          </a:xfrm>
          <a:custGeom>
            <a:avLst/>
            <a:gdLst/>
            <a:ahLst/>
            <a:cxnLst/>
            <a:rect r="r" b="b" t="t" l="l"/>
            <a:pathLst>
              <a:path h="8229600" w="15454648">
                <a:moveTo>
                  <a:pt x="0" y="0"/>
                </a:moveTo>
                <a:lnTo>
                  <a:pt x="15454648" y="0"/>
                </a:lnTo>
                <a:lnTo>
                  <a:pt x="154546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6676" y="1028700"/>
            <a:ext cx="15454648" cy="8229600"/>
          </a:xfrm>
          <a:custGeom>
            <a:avLst/>
            <a:gdLst/>
            <a:ahLst/>
            <a:cxnLst/>
            <a:rect r="r" b="b" t="t" l="l"/>
            <a:pathLst>
              <a:path h="8229600" w="15454648">
                <a:moveTo>
                  <a:pt x="0" y="0"/>
                </a:moveTo>
                <a:lnTo>
                  <a:pt x="15454648" y="0"/>
                </a:lnTo>
                <a:lnTo>
                  <a:pt x="154546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4773" y="1028700"/>
            <a:ext cx="15418454" cy="8229600"/>
          </a:xfrm>
          <a:custGeom>
            <a:avLst/>
            <a:gdLst/>
            <a:ahLst/>
            <a:cxnLst/>
            <a:rect r="r" b="b" t="t" l="l"/>
            <a:pathLst>
              <a:path h="8229600" w="15418454">
                <a:moveTo>
                  <a:pt x="0" y="0"/>
                </a:moveTo>
                <a:lnTo>
                  <a:pt x="15418454" y="0"/>
                </a:lnTo>
                <a:lnTo>
                  <a:pt x="154184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4773" y="1028700"/>
            <a:ext cx="15418454" cy="8229600"/>
          </a:xfrm>
          <a:custGeom>
            <a:avLst/>
            <a:gdLst/>
            <a:ahLst/>
            <a:cxnLst/>
            <a:rect r="r" b="b" t="t" l="l"/>
            <a:pathLst>
              <a:path h="8229600" w="15418454">
                <a:moveTo>
                  <a:pt x="0" y="0"/>
                </a:moveTo>
                <a:lnTo>
                  <a:pt x="15418454" y="0"/>
                </a:lnTo>
                <a:lnTo>
                  <a:pt x="154184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4773" y="1028700"/>
            <a:ext cx="15418454" cy="8229600"/>
          </a:xfrm>
          <a:custGeom>
            <a:avLst/>
            <a:gdLst/>
            <a:ahLst/>
            <a:cxnLst/>
            <a:rect r="r" b="b" t="t" l="l"/>
            <a:pathLst>
              <a:path h="8229600" w="15418454">
                <a:moveTo>
                  <a:pt x="0" y="0"/>
                </a:moveTo>
                <a:lnTo>
                  <a:pt x="15418454" y="0"/>
                </a:lnTo>
                <a:lnTo>
                  <a:pt x="154184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6676" y="1028700"/>
            <a:ext cx="15454648" cy="8229600"/>
          </a:xfrm>
          <a:custGeom>
            <a:avLst/>
            <a:gdLst/>
            <a:ahLst/>
            <a:cxnLst/>
            <a:rect r="r" b="b" t="t" l="l"/>
            <a:pathLst>
              <a:path h="8229600" w="15454648">
                <a:moveTo>
                  <a:pt x="0" y="0"/>
                </a:moveTo>
                <a:lnTo>
                  <a:pt x="15454648" y="0"/>
                </a:lnTo>
                <a:lnTo>
                  <a:pt x="154546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96345" y="1028700"/>
            <a:ext cx="9895311" cy="8229600"/>
          </a:xfrm>
          <a:custGeom>
            <a:avLst/>
            <a:gdLst/>
            <a:ahLst/>
            <a:cxnLst/>
            <a:rect r="r" b="b" t="t" l="l"/>
            <a:pathLst>
              <a:path h="8229600" w="9895311">
                <a:moveTo>
                  <a:pt x="0" y="0"/>
                </a:moveTo>
                <a:lnTo>
                  <a:pt x="9895310" y="0"/>
                </a:lnTo>
                <a:lnTo>
                  <a:pt x="989531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93251" y="1028700"/>
            <a:ext cx="14501498" cy="8229600"/>
          </a:xfrm>
          <a:custGeom>
            <a:avLst/>
            <a:gdLst/>
            <a:ahLst/>
            <a:cxnLst/>
            <a:rect r="r" b="b" t="t" l="l"/>
            <a:pathLst>
              <a:path h="8229600" w="14501498">
                <a:moveTo>
                  <a:pt x="0" y="0"/>
                </a:moveTo>
                <a:lnTo>
                  <a:pt x="14501498" y="0"/>
                </a:lnTo>
                <a:lnTo>
                  <a:pt x="145014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2501" y="1028700"/>
            <a:ext cx="15662998" cy="8229600"/>
          </a:xfrm>
          <a:custGeom>
            <a:avLst/>
            <a:gdLst/>
            <a:ahLst/>
            <a:cxnLst/>
            <a:rect r="r" b="b" t="t" l="l"/>
            <a:pathLst>
              <a:path h="8229600" w="15662998">
                <a:moveTo>
                  <a:pt x="0" y="0"/>
                </a:moveTo>
                <a:lnTo>
                  <a:pt x="15662998" y="0"/>
                </a:lnTo>
                <a:lnTo>
                  <a:pt x="156629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216629" cy="8236696"/>
          </a:xfrm>
          <a:custGeom>
            <a:avLst/>
            <a:gdLst/>
            <a:ahLst/>
            <a:cxnLst/>
            <a:rect r="r" b="b" t="t" l="l"/>
            <a:pathLst>
              <a:path h="8236696" w="16216629">
                <a:moveTo>
                  <a:pt x="0" y="0"/>
                </a:moveTo>
                <a:lnTo>
                  <a:pt x="16216629" y="0"/>
                </a:lnTo>
                <a:lnTo>
                  <a:pt x="16216629" y="8236696"/>
                </a:lnTo>
                <a:lnTo>
                  <a:pt x="0" y="8236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216629" cy="8236696"/>
          </a:xfrm>
          <a:custGeom>
            <a:avLst/>
            <a:gdLst/>
            <a:ahLst/>
            <a:cxnLst/>
            <a:rect r="r" b="b" t="t" l="l"/>
            <a:pathLst>
              <a:path h="8236696" w="16216629">
                <a:moveTo>
                  <a:pt x="0" y="0"/>
                </a:moveTo>
                <a:lnTo>
                  <a:pt x="16216629" y="0"/>
                </a:lnTo>
                <a:lnTo>
                  <a:pt x="16216629" y="8236696"/>
                </a:lnTo>
                <a:lnTo>
                  <a:pt x="0" y="8236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83224" y="4093804"/>
            <a:ext cx="11121552" cy="159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85"/>
              </a:lnSpc>
            </a:pPr>
            <a:r>
              <a:rPr lang="en-US" b="true" sz="1184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Questions?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3904848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2708935" y="0"/>
            <a:ext cx="5579065" cy="6382152"/>
          </a:xfrm>
          <a:custGeom>
            <a:avLst/>
            <a:gdLst/>
            <a:ahLst/>
            <a:cxnLst/>
            <a:rect r="r" b="b" t="t" l="l"/>
            <a:pathLst>
              <a:path h="6382152" w="5579065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301030" y="301030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true" rot="5400000">
            <a:off x="10820522" y="2819522"/>
            <a:ext cx="7768508" cy="7166448"/>
          </a:xfrm>
          <a:custGeom>
            <a:avLst/>
            <a:gdLst/>
            <a:ahLst/>
            <a:cxnLst/>
            <a:rect r="r" b="b" t="t" l="l"/>
            <a:pathLst>
              <a:path h="7166448" w="776850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DAHMW8s35J0</dc:identifier>
  <dcterms:modified xsi:type="dcterms:W3CDTF">2011-08-01T06:04:30Z</dcterms:modified>
  <cp:revision>1</cp:revision>
  <dc:title>T2430514</dc:title>
</cp:coreProperties>
</file>